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56" r:id="rId2"/>
    <p:sldId id="258" r:id="rId3"/>
    <p:sldId id="259" r:id="rId4"/>
    <p:sldId id="261" r:id="rId5"/>
    <p:sldId id="262" r:id="rId6"/>
    <p:sldId id="260" r:id="rId7"/>
  </p:sldIdLst>
  <p:sldSz cx="12192000" cy="6858000"/>
  <p:notesSz cx="6858000" cy="9144000"/>
  <p:defaultTextStyle>
    <a:defPPr>
      <a:defRPr lang="en-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EF082A-8388-1A48-8632-2B67600960F5}" v="4" dt="2022-11-18T00:10:51.6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658"/>
    <p:restoredTop sz="95915"/>
  </p:normalViewPr>
  <p:slideViewPr>
    <p:cSldViewPr snapToGrid="0">
      <p:cViewPr varScale="1">
        <p:scale>
          <a:sx n="76" d="100"/>
          <a:sy n="76" d="100"/>
        </p:scale>
        <p:origin x="216" y="102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261B8C-F92F-4143-BEB5-0EBE3BA7B891}" type="datetimeFigureOut">
              <a:rPr lang="en-SK" smtClean="0"/>
              <a:t>12/12/2022</a:t>
            </a:fld>
            <a:endParaRPr lang="en-S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AA76F9-F416-A148-83EB-1971D35F4480}" type="slidenum">
              <a:rPr lang="en-SK" smtClean="0"/>
              <a:t>‹#›</a:t>
            </a:fld>
            <a:endParaRPr lang="en-SK"/>
          </a:p>
        </p:txBody>
      </p:sp>
    </p:spTree>
    <p:extLst>
      <p:ext uri="{BB962C8B-B14F-4D97-AF65-F5344CB8AC3E}">
        <p14:creationId xmlns:p14="http://schemas.microsoft.com/office/powerpoint/2010/main" val="2823917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Bias_(statistics)"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en.wikipedia.org/wiki/Independent_variable" TargetMode="External"/><Relationship Id="rId5" Type="http://schemas.openxmlformats.org/officeDocument/2006/relationships/hyperlink" Target="https://en.wikipedia.org/wiki/Regression_slope" TargetMode="External"/><Relationship Id="rId4" Type="http://schemas.openxmlformats.org/officeDocument/2006/relationships/hyperlink" Target="https://en.wikipedia.org/wiki/Linear_regression"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arxiv.org/search/econ?searchtype=author&amp;query=Reisenhofer%2C+R"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arxiv.org/search/econ?searchtype=author&amp;query=Hautsch%2C+N" TargetMode="External"/><Relationship Id="rId4" Type="http://schemas.openxmlformats.org/officeDocument/2006/relationships/hyperlink" Target="https://arxiv.org/search/econ?searchtype=author&amp;query=Bayer%2C+X"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K" dirty="0"/>
          </a:p>
        </p:txBody>
      </p:sp>
      <p:sp>
        <p:nvSpPr>
          <p:cNvPr id="4" name="Slide Number Placeholder 3"/>
          <p:cNvSpPr>
            <a:spLocks noGrp="1"/>
          </p:cNvSpPr>
          <p:nvPr>
            <p:ph type="sldNum" sz="quarter" idx="5"/>
          </p:nvPr>
        </p:nvSpPr>
        <p:spPr/>
        <p:txBody>
          <a:bodyPr/>
          <a:lstStyle/>
          <a:p>
            <a:fld id="{EAAA76F9-F416-A148-83EB-1971D35F4480}" type="slidenum">
              <a:rPr lang="en-SK" smtClean="0"/>
              <a:t>1</a:t>
            </a:fld>
            <a:endParaRPr lang="en-SK"/>
          </a:p>
        </p:txBody>
      </p:sp>
    </p:spTree>
    <p:extLst>
      <p:ext uri="{BB962C8B-B14F-4D97-AF65-F5344CB8AC3E}">
        <p14:creationId xmlns:p14="http://schemas.microsoft.com/office/powerpoint/2010/main" val="21141765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K" dirty="0"/>
          </a:p>
        </p:txBody>
      </p:sp>
      <p:sp>
        <p:nvSpPr>
          <p:cNvPr id="4" name="Slide Number Placeholder 3"/>
          <p:cNvSpPr>
            <a:spLocks noGrp="1"/>
          </p:cNvSpPr>
          <p:nvPr>
            <p:ph type="sldNum" sz="quarter" idx="5"/>
          </p:nvPr>
        </p:nvSpPr>
        <p:spPr/>
        <p:txBody>
          <a:bodyPr/>
          <a:lstStyle/>
          <a:p>
            <a:fld id="{EAAA76F9-F416-A148-83EB-1971D35F4480}" type="slidenum">
              <a:rPr lang="en-SK" smtClean="0"/>
              <a:t>2</a:t>
            </a:fld>
            <a:endParaRPr lang="en-SK"/>
          </a:p>
        </p:txBody>
      </p:sp>
    </p:spTree>
    <p:extLst>
      <p:ext uri="{BB962C8B-B14F-4D97-AF65-F5344CB8AC3E}">
        <p14:creationId xmlns:p14="http://schemas.microsoft.com/office/powerpoint/2010/main" val="2452439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SK" u="sng" dirty="0">
                <a:latin typeface="+mn-lt"/>
              </a:rPr>
              <a:t>General Overview </a:t>
            </a:r>
          </a:p>
          <a:p>
            <a:pPr marL="628650" lvl="1" indent="-171450">
              <a:buFont typeface="Arial" panose="020B0604020202020204" pitchFamily="34" charset="0"/>
              <a:buChar char="•"/>
            </a:pPr>
            <a:r>
              <a:rPr lang="en-SK" b="1" dirty="0">
                <a:latin typeface="+mn-lt"/>
              </a:rPr>
              <a:t>Aim: </a:t>
            </a:r>
          </a:p>
          <a:p>
            <a:pPr marL="1085850" lvl="2" indent="-171450">
              <a:buFont typeface="Arial" panose="020B0604020202020204" pitchFamily="34" charset="0"/>
              <a:buChar char="•"/>
            </a:pPr>
            <a:r>
              <a:rPr lang="en-SK" dirty="0">
                <a:latin typeface="+mn-lt"/>
              </a:rPr>
              <a:t>A model optimized to price options significantly better than the Black Scholes model using Historical Realized Volatility across all moneyness levels</a:t>
            </a:r>
          </a:p>
          <a:p>
            <a:pPr marL="1543050" lvl="3" indent="-171450">
              <a:buFont typeface="Arial" panose="020B0604020202020204" pitchFamily="34" charset="0"/>
              <a:buChar char="•"/>
            </a:pPr>
            <a:r>
              <a:rPr lang="en-SK" dirty="0">
                <a:latin typeface="+mn-lt"/>
              </a:rPr>
              <a:t>Baseline is Black Scholes, we realize there are other better models which we can compare to, however, we don’t want to strech our selves too thin</a:t>
            </a:r>
          </a:p>
          <a:p>
            <a:pPr marL="1543050" lvl="3" indent="-171450">
              <a:buFont typeface="Arial" panose="020B0604020202020204" pitchFamily="34" charset="0"/>
              <a:buChar char="•"/>
            </a:pPr>
            <a:r>
              <a:rPr lang="en-SK" dirty="0">
                <a:latin typeface="+mn-lt"/>
              </a:rPr>
              <a:t>Comparing to other models can be an extension </a:t>
            </a:r>
          </a:p>
          <a:p>
            <a:pPr lvl="2"/>
            <a:endParaRPr lang="en-SK" dirty="0">
              <a:latin typeface="+mn-lt"/>
            </a:endParaRPr>
          </a:p>
          <a:p>
            <a:pPr marL="628650" lvl="1" indent="-171450">
              <a:buFont typeface="Arial" panose="020B0604020202020204" pitchFamily="34" charset="0"/>
              <a:buChar char="•"/>
            </a:pPr>
            <a:r>
              <a:rPr lang="en-SK" b="1" dirty="0">
                <a:latin typeface="+mn-lt"/>
              </a:rPr>
              <a:t>Why:</a:t>
            </a:r>
            <a:endParaRPr lang="en-GB" b="1" dirty="0">
              <a:latin typeface="+mn-lt"/>
            </a:endParaRPr>
          </a:p>
          <a:p>
            <a:pPr marL="1085850" lvl="2" indent="-171450">
              <a:buFont typeface="Arial" panose="020B0604020202020204" pitchFamily="34" charset="0"/>
              <a:buChar char="•"/>
            </a:pPr>
            <a:r>
              <a:rPr lang="en-GB" dirty="0">
                <a:latin typeface="+mn-lt"/>
              </a:rPr>
              <a:t>Fundamental Problem 1: Volatility Skew is a fundamental violation of Black Scholes</a:t>
            </a:r>
          </a:p>
          <a:p>
            <a:pPr marL="1543050" lvl="3" indent="-171450">
              <a:buFont typeface="Arial" panose="020B0604020202020204" pitchFamily="34" charset="0"/>
              <a:buChar char="•"/>
            </a:pPr>
            <a:r>
              <a:rPr lang="en-GB" b="0" i="0" dirty="0">
                <a:solidFill>
                  <a:srgbClr val="111111"/>
                </a:solidFill>
                <a:effectLst/>
                <a:latin typeface="+mn-lt"/>
              </a:rPr>
              <a:t>The assumption of lognormal underlying asset prices should, therefore, show that implied volatilities are similar for each strike price according to the Black-Scholes model.</a:t>
            </a:r>
          </a:p>
          <a:p>
            <a:pPr marL="1543050" lvl="3" indent="-171450">
              <a:buFont typeface="Arial" panose="020B0604020202020204" pitchFamily="34" charset="0"/>
              <a:buChar char="•"/>
            </a:pPr>
            <a:r>
              <a:rPr lang="en-GB" b="0" i="0" dirty="0">
                <a:solidFill>
                  <a:srgbClr val="202122"/>
                </a:solidFill>
                <a:effectLst/>
                <a:latin typeface="+mn-lt"/>
              </a:rPr>
              <a:t>Volatility plotted against strike price is downward sloping for equity markets, or valley-shaped for currency markets</a:t>
            </a:r>
          </a:p>
          <a:p>
            <a:pPr marL="1543050" lvl="3" indent="-171450">
              <a:buFont typeface="Arial" panose="020B0604020202020204" pitchFamily="34" charset="0"/>
              <a:buChar char="•"/>
            </a:pPr>
            <a:r>
              <a:rPr lang="en-GB" b="0" i="0" dirty="0">
                <a:solidFill>
                  <a:srgbClr val="222222"/>
                </a:solidFill>
                <a:effectLst/>
                <a:latin typeface="+mn-lt"/>
              </a:rPr>
              <a:t>A possible explanation is that in-the-money calls have become popular alternatives to outright stock purchases as they offer leverage and hence increased ROI. This leads to greater demands for in-the-money calls (as they have a larger delta) and therefore increased IV at the lower strikes.</a:t>
            </a:r>
          </a:p>
          <a:p>
            <a:pPr marL="1543050" lvl="3" indent="-171450">
              <a:buFont typeface="Arial" panose="020B0604020202020204" pitchFamily="34" charset="0"/>
              <a:buChar char="•"/>
            </a:pPr>
            <a:endParaRPr lang="en-GB" dirty="0">
              <a:latin typeface="+mn-lt"/>
            </a:endParaRPr>
          </a:p>
          <a:p>
            <a:pPr marL="1085850" lvl="2" indent="-171450">
              <a:buFont typeface="Arial" panose="020B0604020202020204" pitchFamily="34" charset="0"/>
              <a:buChar char="•"/>
            </a:pPr>
            <a:r>
              <a:rPr lang="en-GB" dirty="0">
                <a:latin typeface="+mn-lt"/>
              </a:rPr>
              <a:t>Fundamental Problem 2: Utilizing the tools of machine learning to avoid overfitting</a:t>
            </a:r>
          </a:p>
          <a:p>
            <a:pPr marL="1543050" lvl="3" indent="-171450">
              <a:buFont typeface="Arial" panose="020B0604020202020204" pitchFamily="34" charset="0"/>
              <a:buChar char="•"/>
            </a:pPr>
            <a:r>
              <a:rPr lang="en-GB" dirty="0">
                <a:latin typeface="+mn-lt"/>
              </a:rPr>
              <a:t>General Examples include</a:t>
            </a:r>
          </a:p>
          <a:p>
            <a:pPr lvl="3" algn="l">
              <a:buFont typeface="+mj-lt"/>
              <a:buAutoNum type="arabicPeriod"/>
            </a:pPr>
            <a:r>
              <a:rPr lang="en-GB" b="0" i="0" dirty="0">
                <a:solidFill>
                  <a:srgbClr val="202124"/>
                </a:solidFill>
                <a:effectLst/>
                <a:latin typeface="+mn-lt"/>
              </a:rPr>
              <a:t> Apply regularization, which comes down to adding a cost to the loss function for large weights.</a:t>
            </a:r>
          </a:p>
          <a:p>
            <a:pPr lvl="3" algn="l">
              <a:buFont typeface="+mj-lt"/>
              <a:buAutoNum type="arabicPeriod"/>
            </a:pPr>
            <a:r>
              <a:rPr lang="en-GB" b="0" i="0" dirty="0">
                <a:solidFill>
                  <a:srgbClr val="202124"/>
                </a:solidFill>
                <a:effectLst/>
                <a:latin typeface="+mn-lt"/>
              </a:rPr>
              <a:t> Use Dropout layers, which will randomly remove certain features by setting them to zero.</a:t>
            </a:r>
          </a:p>
          <a:p>
            <a:pPr marL="1543050" lvl="3" indent="-171450">
              <a:buFont typeface="Arial" panose="020B0604020202020204" pitchFamily="34" charset="0"/>
              <a:buChar char="•"/>
            </a:pPr>
            <a:endParaRPr lang="en-GB" dirty="0">
              <a:latin typeface="+mn-lt"/>
            </a:endParaRPr>
          </a:p>
          <a:p>
            <a:pPr marL="1085850" lvl="2" indent="-171450">
              <a:buFont typeface="Arial" panose="020B0604020202020204" pitchFamily="34" charset="0"/>
              <a:buChar char="•"/>
            </a:pPr>
            <a:r>
              <a:rPr lang="en-GB" dirty="0">
                <a:latin typeface="+mn-lt"/>
              </a:rPr>
              <a:t>Fundamental Problem 3: Speed of calculation </a:t>
            </a:r>
          </a:p>
          <a:p>
            <a:pPr marL="1543050" lvl="3" indent="-171450">
              <a:buFont typeface="Arial" panose="020B0604020202020204" pitchFamily="34" charset="0"/>
              <a:buChar char="•"/>
            </a:pPr>
            <a:r>
              <a:rPr lang="en-GB" b="0" i="0" dirty="0">
                <a:solidFill>
                  <a:srgbClr val="404040"/>
                </a:solidFill>
                <a:effectLst/>
                <a:latin typeface="+mn-lt"/>
              </a:rPr>
              <a:t>Some models rely on computationally expensive procedures like solving a partial differential equation (PDE) or performing Monte-Carlo simulations to estimate the option price, implied volatility</a:t>
            </a:r>
            <a:endParaRPr lang="en-GB" dirty="0">
              <a:latin typeface="+mn-lt"/>
            </a:endParaRPr>
          </a:p>
          <a:p>
            <a:pPr marL="914400" lvl="2" indent="0">
              <a:buNone/>
            </a:pPr>
            <a:endParaRPr lang="en-GB" dirty="0">
              <a:latin typeface="+mn-lt"/>
            </a:endParaRPr>
          </a:p>
          <a:p>
            <a:pPr marL="628650" lvl="1" indent="-171450">
              <a:buFont typeface="Arial" panose="020B0604020202020204" pitchFamily="34" charset="0"/>
              <a:buChar char="•"/>
            </a:pPr>
            <a:r>
              <a:rPr lang="en-GB" b="1" dirty="0">
                <a:solidFill>
                  <a:srgbClr val="404040"/>
                </a:solidFill>
                <a:latin typeface="+mn-lt"/>
              </a:rPr>
              <a:t>How is it useful:</a:t>
            </a:r>
          </a:p>
          <a:p>
            <a:pPr marL="1085850" lvl="2" indent="-171450">
              <a:buFont typeface="Arial" panose="020B0604020202020204" pitchFamily="34" charset="0"/>
              <a:buChar char="•"/>
            </a:pPr>
            <a:r>
              <a:rPr lang="en-GB" b="0" i="0" dirty="0">
                <a:solidFill>
                  <a:srgbClr val="404040"/>
                </a:solidFill>
                <a:effectLst/>
                <a:latin typeface="+mn-lt"/>
              </a:rPr>
              <a:t>Hedging?</a:t>
            </a:r>
          </a:p>
          <a:p>
            <a:pPr marL="1085850" lvl="2" indent="-171450">
              <a:buFont typeface="Arial" panose="020B0604020202020204" pitchFamily="34" charset="0"/>
              <a:buChar char="•"/>
            </a:pPr>
            <a:r>
              <a:rPr lang="en-GB" dirty="0">
                <a:solidFill>
                  <a:srgbClr val="404040"/>
                </a:solidFill>
                <a:latin typeface="+mn-lt"/>
              </a:rPr>
              <a:t>Arbitrage?</a:t>
            </a:r>
            <a:endParaRPr lang="en-GB" b="0" i="0" dirty="0">
              <a:solidFill>
                <a:srgbClr val="404040"/>
              </a:solidFill>
              <a:effectLst/>
              <a:latin typeface="+mn-lt"/>
            </a:endParaRPr>
          </a:p>
          <a:p>
            <a:endParaRPr lang="en-SK" dirty="0">
              <a:latin typeface="+mn-lt"/>
            </a:endParaRPr>
          </a:p>
        </p:txBody>
      </p:sp>
      <p:sp>
        <p:nvSpPr>
          <p:cNvPr id="4" name="Slide Number Placeholder 3"/>
          <p:cNvSpPr>
            <a:spLocks noGrp="1"/>
          </p:cNvSpPr>
          <p:nvPr>
            <p:ph type="sldNum" sz="quarter" idx="5"/>
          </p:nvPr>
        </p:nvSpPr>
        <p:spPr/>
        <p:txBody>
          <a:bodyPr/>
          <a:lstStyle/>
          <a:p>
            <a:fld id="{EAAA76F9-F416-A148-83EB-1971D35F4480}" type="slidenum">
              <a:rPr lang="en-SK" smtClean="0"/>
              <a:t>3</a:t>
            </a:fld>
            <a:endParaRPr lang="en-SK"/>
          </a:p>
        </p:txBody>
      </p:sp>
    </p:spTree>
    <p:extLst>
      <p:ext uri="{BB962C8B-B14F-4D97-AF65-F5344CB8AC3E}">
        <p14:creationId xmlns:p14="http://schemas.microsoft.com/office/powerpoint/2010/main" val="73946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SK" u="sng" dirty="0"/>
              <a:t>Explain Model Selection</a:t>
            </a:r>
          </a:p>
          <a:p>
            <a:pPr marL="171450" indent="-171450">
              <a:buFont typeface="Arial" panose="020B0604020202020204" pitchFamily="34" charset="0"/>
              <a:buChar char="•"/>
            </a:pPr>
            <a:endParaRPr lang="en-SK" u="sng" dirty="0"/>
          </a:p>
          <a:p>
            <a:pPr marL="628650" lvl="1" indent="-171450">
              <a:buFont typeface="Arial" panose="020B0604020202020204" pitchFamily="34" charset="0"/>
              <a:buChar char="•"/>
            </a:pPr>
            <a:r>
              <a:rPr lang="en-SK" b="1" dirty="0"/>
              <a:t>Why use ANN </a:t>
            </a:r>
          </a:p>
          <a:p>
            <a:pPr marL="1085850" lvl="2" indent="-171450">
              <a:buFont typeface="Arial" panose="020B0604020202020204" pitchFamily="34" charset="0"/>
              <a:buChar char="•"/>
            </a:pPr>
            <a:r>
              <a:rPr lang="en-GB" dirty="0"/>
              <a:t>Johannes </a:t>
            </a:r>
            <a:r>
              <a:rPr lang="en-GB" dirty="0" err="1"/>
              <a:t>Ruf</a:t>
            </a:r>
            <a:r>
              <a:rPr lang="en-GB" dirty="0"/>
              <a:t>∗ </a:t>
            </a:r>
            <a:r>
              <a:rPr lang="en-GB" dirty="0" err="1"/>
              <a:t>Weiguan</a:t>
            </a:r>
            <a:r>
              <a:rPr lang="en-GB" dirty="0"/>
              <a:t> Wang’s 2020 meta-analysis on the performance of ANN for option pricing concluded that more than half of the paper abstracts explicitly emphasize the positive performance of ANNs in option pricing and hedging tasks.</a:t>
            </a:r>
          </a:p>
          <a:p>
            <a:pPr marL="1085850" lvl="2" indent="-171450">
              <a:buFont typeface="Arial" panose="020B0604020202020204" pitchFamily="34" charset="0"/>
              <a:buChar char="•"/>
            </a:pPr>
            <a:r>
              <a:rPr lang="en-SK" dirty="0"/>
              <a:t>It is also suggested in this paper that based on the observed performance of all the 150 ANN tested, it was models with</a:t>
            </a:r>
            <a:r>
              <a:rPr lang="en-GB" dirty="0"/>
              <a:t>, stationary features which performed the best</a:t>
            </a:r>
          </a:p>
          <a:p>
            <a:pPr marL="1543050" lvl="3" indent="-171450">
              <a:buFont typeface="Arial" panose="020B0604020202020204" pitchFamily="34" charset="0"/>
              <a:buChar char="•"/>
            </a:pPr>
            <a:r>
              <a:rPr lang="en-GB" dirty="0"/>
              <a:t>This raises the issue of losing temporal information which is so important in option pricing as in any financial time series analysis </a:t>
            </a:r>
          </a:p>
          <a:p>
            <a:pPr marL="1543050" lvl="3" indent="-171450">
              <a:buFont typeface="Arial" panose="020B0604020202020204" pitchFamily="34" charset="0"/>
              <a:buChar char="•"/>
            </a:pPr>
            <a:r>
              <a:rPr lang="en-GB" dirty="0"/>
              <a:t>One method for incorporating time series information into a static feature is the use of GARCH Generated volatility as shown by Chang &amp; Wang, rt al. In their 2013 paper Forecasting of option prices using a neural network model.</a:t>
            </a:r>
          </a:p>
          <a:p>
            <a:pPr marL="1085850" lvl="2" indent="-171450">
              <a:buFont typeface="Arial" panose="020B0604020202020204" pitchFamily="34" charset="0"/>
              <a:buChar char="•"/>
            </a:pPr>
            <a:r>
              <a:rPr lang="en-GB" dirty="0"/>
              <a:t>HAR-Realized Volatility Model was proposed by (</a:t>
            </a:r>
            <a:r>
              <a:rPr lang="en-GB" dirty="0" err="1"/>
              <a:t>Corsi</a:t>
            </a:r>
            <a:r>
              <a:rPr lang="en-GB" dirty="0"/>
              <a:t>, 2009) as a method for improved volatility forecasting in the presence of HF data</a:t>
            </a:r>
          </a:p>
          <a:p>
            <a:pPr marL="1085850" lvl="2" indent="-171450">
              <a:buFont typeface="Arial" panose="020B0604020202020204" pitchFamily="34" charset="0"/>
              <a:buChar char="•"/>
            </a:pPr>
            <a:r>
              <a:rPr lang="en-GB" dirty="0"/>
              <a:t>The approach was Improved upon by Tim </a:t>
            </a:r>
            <a:r>
              <a:rPr lang="en-GB" dirty="0" err="1"/>
              <a:t>Bollerslev</a:t>
            </a:r>
            <a:r>
              <a:rPr lang="en-GB" dirty="0"/>
              <a:t> (Creator of </a:t>
            </a:r>
            <a:r>
              <a:rPr lang="en-GB" dirty="0" err="1"/>
              <a:t>Garch</a:t>
            </a:r>
            <a:r>
              <a:rPr lang="en-GB" dirty="0"/>
              <a:t>) (2015) into the HARQ model by taking into account Attenuation bias with </a:t>
            </a:r>
            <a:r>
              <a:rPr lang="en-GB" dirty="0" err="1"/>
              <a:t>i.i.d.</a:t>
            </a:r>
            <a:r>
              <a:rPr lang="en-GB" dirty="0"/>
              <a:t> measurement errors</a:t>
            </a:r>
          </a:p>
          <a:p>
            <a:pPr marL="1543050" lvl="3" indent="-171450">
              <a:buFont typeface="Arial" panose="020B0604020202020204" pitchFamily="34" charset="0"/>
              <a:buChar char="•"/>
            </a:pPr>
            <a:r>
              <a:rPr lang="en-GB" dirty="0"/>
              <a:t>Attenuation is </a:t>
            </a:r>
            <a:r>
              <a:rPr lang="en-GB" u="none" dirty="0">
                <a:solidFill>
                  <a:schemeClr val="tx1"/>
                </a:solidFill>
              </a:rPr>
              <a:t>the </a:t>
            </a:r>
            <a:r>
              <a:rPr lang="en-GB" u="none" dirty="0">
                <a:solidFill>
                  <a:schemeClr val="tx1"/>
                </a:solidFill>
                <a:hlinkClick r:id="rId3" tooltip="Bias (statistics)">
                  <a:extLst>
                    <a:ext uri="{A12FA001-AC4F-418D-AE19-62706E023703}">
                      <ahyp:hlinkClr xmlns:ahyp="http://schemas.microsoft.com/office/drawing/2018/hyperlinkcolor" val="tx"/>
                    </a:ext>
                  </a:extLst>
                </a:hlinkClick>
              </a:rPr>
              <a:t>biasing</a:t>
            </a:r>
            <a:r>
              <a:rPr lang="en-GB" u="none" dirty="0">
                <a:solidFill>
                  <a:schemeClr val="tx1"/>
                </a:solidFill>
              </a:rPr>
              <a:t> of the </a:t>
            </a:r>
            <a:r>
              <a:rPr lang="en-GB" u="none" dirty="0">
                <a:solidFill>
                  <a:schemeClr val="tx1"/>
                </a:solidFill>
                <a:hlinkClick r:id="rId4" tooltip="Linear regression">
                  <a:extLst>
                    <a:ext uri="{A12FA001-AC4F-418D-AE19-62706E023703}">
                      <ahyp:hlinkClr xmlns:ahyp="http://schemas.microsoft.com/office/drawing/2018/hyperlinkcolor" val="tx"/>
                    </a:ext>
                  </a:extLst>
                </a:hlinkClick>
              </a:rPr>
              <a:t>linear regression</a:t>
            </a:r>
            <a:r>
              <a:rPr lang="en-GB" u="none" dirty="0">
                <a:solidFill>
                  <a:schemeClr val="tx1"/>
                </a:solidFill>
              </a:rPr>
              <a:t> </a:t>
            </a:r>
            <a:r>
              <a:rPr lang="en-GB" u="none" dirty="0">
                <a:solidFill>
                  <a:schemeClr val="tx1"/>
                </a:solidFill>
                <a:hlinkClick r:id="rId5" tooltip="Regression slope">
                  <a:extLst>
                    <a:ext uri="{A12FA001-AC4F-418D-AE19-62706E023703}">
                      <ahyp:hlinkClr xmlns:ahyp="http://schemas.microsoft.com/office/drawing/2018/hyperlinkcolor" val="tx"/>
                    </a:ext>
                  </a:extLst>
                </a:hlinkClick>
              </a:rPr>
              <a:t>slope</a:t>
            </a:r>
            <a:r>
              <a:rPr lang="en-GB" u="none" dirty="0">
                <a:solidFill>
                  <a:schemeClr val="tx1"/>
                </a:solidFill>
              </a:rPr>
              <a:t> towards zero (the underestimation of its absolute value), caused by errors in the </a:t>
            </a:r>
            <a:r>
              <a:rPr lang="en-GB" u="none" dirty="0">
                <a:solidFill>
                  <a:schemeClr val="tx1"/>
                </a:solidFill>
                <a:hlinkClick r:id="rId6" tooltip="Independent variable">
                  <a:extLst>
                    <a:ext uri="{A12FA001-AC4F-418D-AE19-62706E023703}">
                      <ahyp:hlinkClr xmlns:ahyp="http://schemas.microsoft.com/office/drawing/2018/hyperlinkcolor" val="tx"/>
                    </a:ext>
                  </a:extLst>
                </a:hlinkClick>
              </a:rPr>
              <a:t>independent variable</a:t>
            </a:r>
            <a:r>
              <a:rPr lang="en-GB" u="none" dirty="0">
                <a:solidFill>
                  <a:schemeClr val="tx1"/>
                </a:solidFill>
              </a:rPr>
              <a:t>.</a:t>
            </a:r>
          </a:p>
          <a:p>
            <a:pPr marL="1543050" lvl="3" indent="-171450">
              <a:buFont typeface="Arial" panose="020B0604020202020204" pitchFamily="34" charset="0"/>
              <a:buChar char="•"/>
            </a:pPr>
            <a:r>
              <a:rPr lang="en-GB" dirty="0"/>
              <a:t>Caused by the use of extremely frequent data -&gt; as delta tends to 0, M tends to infinity </a:t>
            </a:r>
          </a:p>
          <a:p>
            <a:pPr marL="1085850" lvl="2" indent="-171450">
              <a:buFont typeface="Arial" panose="020B0604020202020204" pitchFamily="34" charset="0"/>
              <a:buChar char="•"/>
            </a:pPr>
            <a:r>
              <a:rPr lang="en-GB" dirty="0" err="1"/>
              <a:t>Bollerslev</a:t>
            </a:r>
            <a:r>
              <a:rPr lang="en-GB" dirty="0"/>
              <a:t> argues that HARQ is generally superior to standard GARCH and Stochastic Volatility (SV) models • And much easier to estimate and implement, but more on this later</a:t>
            </a:r>
          </a:p>
          <a:p>
            <a:pPr marL="1085850" lvl="2" indent="-171450">
              <a:buFont typeface="Arial" panose="020B0604020202020204" pitchFamily="34" charset="0"/>
              <a:buChar char="•"/>
            </a:pPr>
            <a:endParaRPr lang="en-GB" dirty="0"/>
          </a:p>
          <a:p>
            <a:pPr marL="628650" lvl="1" indent="-171450">
              <a:buFont typeface="Arial" panose="020B0604020202020204" pitchFamily="34" charset="0"/>
              <a:buChar char="•"/>
            </a:pPr>
            <a:r>
              <a:rPr lang="en-GB" b="1" dirty="0"/>
              <a:t>Why Not RNN e.g. LSTM?</a:t>
            </a:r>
          </a:p>
          <a:p>
            <a:pPr marL="1085850" lvl="2" indent="-171450">
              <a:buFont typeface="Arial" panose="020B0604020202020204" pitchFamily="34" charset="0"/>
              <a:buChar char="•"/>
            </a:pPr>
            <a:r>
              <a:rPr lang="en-GB" dirty="0"/>
              <a:t>Given what we know about the nature of the data available it would follow that using a model which incorporates temporal data would perform better than any feed-forward neural network</a:t>
            </a:r>
          </a:p>
          <a:p>
            <a:pPr marL="1085850" lvl="2" indent="-171450">
              <a:buFont typeface="Arial" panose="020B0604020202020204" pitchFamily="34" charset="0"/>
              <a:buChar char="•"/>
            </a:pPr>
            <a:r>
              <a:rPr lang="en-GB" dirty="0"/>
              <a:t>It would thus follow that using e.g. a LSTM model would result in a prediction which would potentially be better</a:t>
            </a:r>
          </a:p>
          <a:p>
            <a:pPr marL="1085850" lvl="2" indent="-171450">
              <a:buFont typeface="Arial" panose="020B0604020202020204" pitchFamily="34" charset="0"/>
              <a:buChar char="•"/>
            </a:pPr>
            <a:r>
              <a:rPr lang="en-GB" dirty="0"/>
              <a:t>Lemus argues in an article that LTSM cannot be used to predict Financial Time series because</a:t>
            </a:r>
          </a:p>
          <a:p>
            <a:pPr marL="1543050" lvl="3" indent="-171450">
              <a:buFont typeface="Arial" panose="020B0604020202020204" pitchFamily="34" charset="0"/>
              <a:buChar char="•"/>
            </a:pPr>
            <a:r>
              <a:rPr lang="en-GB" dirty="0"/>
              <a:t>If it worked as well as shown the time series model would not be published giving an example of GS suing a programmer</a:t>
            </a:r>
          </a:p>
          <a:p>
            <a:pPr marL="1543050" lvl="3" indent="-171450">
              <a:buFont typeface="Arial" panose="020B0604020202020204" pitchFamily="34" charset="0"/>
              <a:buChar char="•"/>
            </a:pPr>
            <a:r>
              <a:rPr lang="en-GB" dirty="0"/>
              <a:t>Since the dataset is noisy, prone to regime changes and non-stationary it cannot be predicted </a:t>
            </a:r>
          </a:p>
          <a:p>
            <a:pPr marL="1543050" lvl="3" indent="-171450">
              <a:buFont typeface="Arial" panose="020B0604020202020204" pitchFamily="34" charset="0"/>
              <a:buChar char="•"/>
            </a:pPr>
            <a:r>
              <a:rPr lang="en-GB" dirty="0"/>
              <a:t>Their data can be only predicted with a complete data set</a:t>
            </a:r>
          </a:p>
          <a:p>
            <a:pPr marL="1085850" lvl="2" indent="-171450">
              <a:buFont typeface="Arial" panose="020B0604020202020204" pitchFamily="34" charset="0"/>
              <a:buChar char="•"/>
            </a:pPr>
            <a:r>
              <a:rPr lang="en-GB" dirty="0" err="1"/>
              <a:t>Sirignano</a:t>
            </a:r>
            <a:r>
              <a:rPr lang="en-GB" dirty="0"/>
              <a:t> and </a:t>
            </a:r>
            <a:r>
              <a:rPr lang="en-GB" dirty="0" err="1"/>
              <a:t>Cont</a:t>
            </a:r>
            <a:r>
              <a:rPr lang="en-GB" dirty="0"/>
              <a:t> serve as evidence of the last point where they used complete Order Books for all stock to successfully model a price formation process, nonetheless, the study is not replicable due to a large number of data points (Billions)</a:t>
            </a:r>
          </a:p>
          <a:p>
            <a:pPr marL="1085850" lvl="2" indent="-171450">
              <a:buFont typeface="Arial" panose="020B0604020202020204" pitchFamily="34" charset="0"/>
              <a:buChar char="•"/>
            </a:pPr>
            <a:r>
              <a:rPr lang="en-GB" dirty="0"/>
              <a:t>LSTM models also suffer issues with overfitting financial data</a:t>
            </a:r>
          </a:p>
          <a:p>
            <a:pPr marL="1085850" lvl="2" indent="-171450">
              <a:buFont typeface="Arial" panose="020B0604020202020204" pitchFamily="34" charset="0"/>
              <a:buChar char="•"/>
            </a:pPr>
            <a:r>
              <a:rPr lang="en-GB" dirty="0"/>
              <a:t>Nonetheless, we will try to test LTSM model with a temporal feature of realized volatility if time allows for it </a:t>
            </a:r>
          </a:p>
          <a:p>
            <a:pPr marL="1085850" lvl="2" indent="-171450">
              <a:buFont typeface="Arial" panose="020B0604020202020204" pitchFamily="34" charset="0"/>
              <a:buChar char="•"/>
            </a:pPr>
            <a:endParaRPr lang="en-GB" dirty="0"/>
          </a:p>
          <a:p>
            <a:pPr marL="1085850" lvl="2" indent="-171450">
              <a:buFont typeface="Arial" panose="020B0604020202020204" pitchFamily="34" charset="0"/>
              <a:buChar char="•"/>
            </a:pPr>
            <a:endParaRPr lang="en-GB" dirty="0"/>
          </a:p>
          <a:p>
            <a:pPr marL="1543050" lvl="3" indent="-171450">
              <a:buFont typeface="Arial" panose="020B0604020202020204" pitchFamily="34" charset="0"/>
              <a:buChar char="•"/>
            </a:pPr>
            <a:endParaRPr lang="en-GB" dirty="0"/>
          </a:p>
          <a:p>
            <a:pPr marL="628650" lvl="1" indent="-171450">
              <a:buFont typeface="Arial" panose="020B0604020202020204" pitchFamily="34" charset="0"/>
              <a:buChar char="•"/>
            </a:pPr>
            <a:endParaRPr lang="en-SK" dirty="0"/>
          </a:p>
        </p:txBody>
      </p:sp>
      <p:sp>
        <p:nvSpPr>
          <p:cNvPr id="4" name="Slide Number Placeholder 3"/>
          <p:cNvSpPr>
            <a:spLocks noGrp="1"/>
          </p:cNvSpPr>
          <p:nvPr>
            <p:ph type="sldNum" sz="quarter" idx="5"/>
          </p:nvPr>
        </p:nvSpPr>
        <p:spPr/>
        <p:txBody>
          <a:bodyPr/>
          <a:lstStyle/>
          <a:p>
            <a:fld id="{EAAA76F9-F416-A148-83EB-1971D35F4480}" type="slidenum">
              <a:rPr lang="en-SK" smtClean="0"/>
              <a:t>4</a:t>
            </a:fld>
            <a:endParaRPr lang="en-SK"/>
          </a:p>
        </p:txBody>
      </p:sp>
    </p:spTree>
    <p:extLst>
      <p:ext uri="{BB962C8B-B14F-4D97-AF65-F5344CB8AC3E}">
        <p14:creationId xmlns:p14="http://schemas.microsoft.com/office/powerpoint/2010/main" val="1085462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SK" u="sng" dirty="0">
                <a:latin typeface="+mn-lt"/>
              </a:rPr>
              <a:t>Explain some of the Attributes</a:t>
            </a:r>
            <a:endParaRPr lang="en-US" u="sng" dirty="0">
              <a:latin typeface="+mn-lt"/>
            </a:endParaRPr>
          </a:p>
          <a:p>
            <a:pPr marL="628650" lvl="1" indent="-171450">
              <a:buFont typeface="Arial" panose="020B0604020202020204" pitchFamily="34" charset="0"/>
              <a:buChar char="•"/>
            </a:pPr>
            <a:r>
              <a:rPr lang="en-SK" b="1" dirty="0">
                <a:latin typeface="+mn-lt"/>
              </a:rPr>
              <a:t>Model Features</a:t>
            </a:r>
          </a:p>
          <a:p>
            <a:pPr marL="1085850" lvl="2" indent="-171450">
              <a:buFont typeface="Arial" panose="020B0604020202020204" pitchFamily="34" charset="0"/>
              <a:buChar char="•"/>
            </a:pPr>
            <a:r>
              <a:rPr lang="en-SK" b="0" i="1" dirty="0">
                <a:latin typeface="+mn-lt"/>
              </a:rPr>
              <a:t>HARQ predicted Realized Volatility Feature</a:t>
            </a:r>
          </a:p>
          <a:p>
            <a:pPr marL="1543050" lvl="3" indent="-171450">
              <a:buFont typeface="Arial" panose="020B0604020202020204" pitchFamily="34" charset="0"/>
              <a:buChar char="•"/>
            </a:pPr>
            <a:r>
              <a:rPr lang="en-SK" dirty="0">
                <a:latin typeface="+mn-lt"/>
              </a:rPr>
              <a:t>There exisits  literature to support the use of H</a:t>
            </a:r>
            <a:r>
              <a:rPr lang="en-GB" dirty="0">
                <a:latin typeface="+mn-lt"/>
              </a:rPr>
              <a:t>AR in the computation of realized volatility in conjunction with neural networks</a:t>
            </a:r>
          </a:p>
          <a:p>
            <a:pPr marL="1543050" marR="0" lvl="3"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latin typeface="+mn-lt"/>
              </a:rPr>
              <a:t>One such paper is </a:t>
            </a:r>
            <a:r>
              <a:rPr lang="en-GB" dirty="0">
                <a:latin typeface="+mn-lt"/>
                <a:hlinkClick r:id="rId3"/>
              </a:rPr>
              <a:t>Rafael Reisenhofer</a:t>
            </a:r>
            <a:r>
              <a:rPr lang="en-GB" dirty="0">
                <a:latin typeface="+mn-lt"/>
              </a:rPr>
              <a:t>, </a:t>
            </a:r>
            <a:r>
              <a:rPr lang="en-GB" dirty="0">
                <a:latin typeface="+mn-lt"/>
                <a:hlinkClick r:id="rId4"/>
              </a:rPr>
              <a:t>Xandro Bayer</a:t>
            </a:r>
            <a:r>
              <a:rPr lang="en-GB" dirty="0">
                <a:latin typeface="+mn-lt"/>
              </a:rPr>
              <a:t>, </a:t>
            </a:r>
            <a:r>
              <a:rPr lang="en-GB" dirty="0">
                <a:latin typeface="+mn-lt"/>
                <a:hlinkClick r:id="rId5"/>
              </a:rPr>
              <a:t>Nikolaus Hautsch</a:t>
            </a:r>
            <a:r>
              <a:rPr lang="en-GB" dirty="0">
                <a:latin typeface="+mn-lt"/>
              </a:rPr>
              <a:t> 2022 on the use of A Convolutional Neural Network for Realized Volatility Forecasting</a:t>
            </a:r>
          </a:p>
          <a:p>
            <a:pPr marL="1543050" lvl="3" indent="-171450">
              <a:buFont typeface="Arial" panose="020B0604020202020204" pitchFamily="34" charset="0"/>
              <a:buChar char="•"/>
              <a:defRPr/>
            </a:pPr>
            <a:r>
              <a:rPr lang="en-GB" dirty="0">
                <a:latin typeface="+mn-lt"/>
              </a:rPr>
              <a:t>Overly simplifying their conclusion they show that </a:t>
            </a:r>
            <a:r>
              <a:rPr lang="en-GB" b="0" i="0" dirty="0">
                <a:solidFill>
                  <a:srgbClr val="000000"/>
                </a:solidFill>
                <a:effectLst/>
                <a:latin typeface="+mn-lt"/>
              </a:rPr>
              <a:t>the combination of CNN with the use of RV can significantly improve the accuracy of the forecasts of realized volatility</a:t>
            </a:r>
            <a:r>
              <a:rPr lang="en-GB" dirty="0">
                <a:solidFill>
                  <a:srgbClr val="000000"/>
                </a:solidFill>
                <a:latin typeface="+mn-lt"/>
              </a:rPr>
              <a:t> </a:t>
            </a:r>
          </a:p>
          <a:p>
            <a:pPr marL="1543050" marR="0" lvl="3"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0" i="0" dirty="0">
                <a:solidFill>
                  <a:srgbClr val="000000"/>
                </a:solidFill>
                <a:effectLst/>
                <a:latin typeface="+mn-lt"/>
              </a:rPr>
              <a:t>While we plan to use a completely different model this paper served as a template for what work can be done when NN and Realized Volatility calculations are combined</a:t>
            </a:r>
          </a:p>
          <a:p>
            <a:pPr marL="1543050" lvl="3" indent="-171450">
              <a:buFont typeface="Arial" panose="020B0604020202020204" pitchFamily="34" charset="0"/>
              <a:buChar char="•"/>
              <a:defRPr/>
            </a:pPr>
            <a:r>
              <a:rPr lang="en-GB" b="0" i="0" dirty="0">
                <a:solidFill>
                  <a:srgbClr val="000000"/>
                </a:solidFill>
                <a:effectLst/>
                <a:latin typeface="+mn-lt"/>
              </a:rPr>
              <a:t>As such one of the features in our model will be the predicted Realized Volatility, a completely novel ideal not researched before in a Statistical Perspective.</a:t>
            </a:r>
            <a:r>
              <a:rPr lang="en-GB" dirty="0">
                <a:solidFill>
                  <a:srgbClr val="000000"/>
                </a:solidFill>
                <a:latin typeface="+mn-lt"/>
              </a:rPr>
              <a:t> </a:t>
            </a:r>
            <a:endParaRPr lang="en-GB" b="0" i="0" dirty="0">
              <a:solidFill>
                <a:srgbClr val="000000"/>
              </a:solidFill>
              <a:effectLst/>
              <a:latin typeface="+mn-lt"/>
            </a:endParaRPr>
          </a:p>
          <a:p>
            <a:pPr marL="1543050" marR="0" lvl="3"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0" i="0" dirty="0">
                <a:solidFill>
                  <a:srgbClr val="000000"/>
                </a:solidFill>
                <a:effectLst/>
                <a:latin typeface="+mn-lt"/>
              </a:rPr>
              <a:t>Since the application of Neural Networks with HAR models are quite novel (most academic paper being less than a year old) they are generally uncited and as such this whole approach may be incorrect, nonetheless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b="1" i="0" dirty="0">
              <a:solidFill>
                <a:srgbClr val="000000"/>
              </a:solidFill>
              <a:effectLst/>
              <a:latin typeface="+mn-lt"/>
            </a:endParaRPr>
          </a:p>
          <a:p>
            <a:pPr marL="1085850" lvl="2" indent="-171450">
              <a:buFont typeface="Arial" panose="020B0604020202020204" pitchFamily="34" charset="0"/>
              <a:buChar char="•"/>
            </a:pPr>
            <a:r>
              <a:rPr lang="en-US" b="0" i="1" dirty="0">
                <a:latin typeface="+mn-lt"/>
              </a:rPr>
              <a:t>Moneyness</a:t>
            </a:r>
            <a:r>
              <a:rPr lang="en-GB" b="0" i="1" dirty="0">
                <a:latin typeface="+mn-lt"/>
              </a:rPr>
              <a:t> vs Price and Strike</a:t>
            </a:r>
          </a:p>
          <a:p>
            <a:pPr marL="1543050" lvl="3" indent="-171450">
              <a:buFont typeface="Arial" panose="020B0604020202020204" pitchFamily="34" charset="0"/>
              <a:buChar char="•"/>
            </a:pPr>
            <a:r>
              <a:rPr lang="en-GB" dirty="0">
                <a:latin typeface="+mn-lt"/>
              </a:rPr>
              <a:t>Using moneyness instead of the stock price and the strike price separately reduces the number of inputs and thus makes the training of the ANN easier; see Hutchinson et al. [1994].</a:t>
            </a:r>
          </a:p>
          <a:p>
            <a:pPr marL="1543050" lvl="3" indent="-171450">
              <a:buFont typeface="Arial" panose="020B0604020202020204" pitchFamily="34" charset="0"/>
              <a:buChar char="•"/>
            </a:pPr>
            <a:r>
              <a:rPr lang="en-GB" dirty="0">
                <a:latin typeface="+mn-lt"/>
              </a:rPr>
              <a:t>Moneyness is a stationary input feature in contrast to the stock price and the strike price. Using it helps generalisation and reduces overfitting; see Ghysels et al. [1998] and Garcia and </a:t>
            </a:r>
            <a:r>
              <a:rPr lang="en-GB" dirty="0" err="1">
                <a:latin typeface="+mn-lt"/>
              </a:rPr>
              <a:t>Genc¸ay</a:t>
            </a:r>
            <a:r>
              <a:rPr lang="en-GB" dirty="0">
                <a:latin typeface="+mn-lt"/>
              </a:rPr>
              <a:t> [1998, 2000]</a:t>
            </a:r>
          </a:p>
          <a:p>
            <a:pPr marL="1543050" lvl="3" indent="-171450">
              <a:buFont typeface="Arial" panose="020B0604020202020204" pitchFamily="34" charset="0"/>
              <a:buChar char="•"/>
            </a:pPr>
            <a:endParaRPr lang="en-GB" b="1" dirty="0">
              <a:latin typeface="+mn-lt"/>
            </a:endParaRPr>
          </a:p>
          <a:p>
            <a:pPr marL="1085850" lvl="2" indent="-171450">
              <a:buFont typeface="Arial" panose="020B0604020202020204" pitchFamily="34" charset="0"/>
              <a:buChar char="•"/>
            </a:pPr>
            <a:r>
              <a:rPr lang="en-GB" b="0" i="1" dirty="0">
                <a:latin typeface="+mn-lt"/>
              </a:rPr>
              <a:t>Risk Free Interest Rate </a:t>
            </a:r>
          </a:p>
          <a:p>
            <a:pPr marL="1543050" lvl="3" indent="-171450">
              <a:buFont typeface="Arial" panose="020B0604020202020204" pitchFamily="34" charset="0"/>
              <a:buChar char="•"/>
            </a:pPr>
            <a:r>
              <a:rPr lang="en-GB" dirty="0">
                <a:latin typeface="+mn-lt"/>
              </a:rPr>
              <a:t>accessible via Refinitiv</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0" i="1" dirty="0">
                <a:latin typeface="+mn-lt"/>
              </a:rPr>
              <a:t>Time to Maturity </a:t>
            </a:r>
          </a:p>
          <a:p>
            <a:pPr marL="1543050" marR="0" lvl="3"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latin typeface="+mn-lt"/>
              </a:rPr>
              <a:t> accessible via Refinitiv</a:t>
            </a:r>
          </a:p>
          <a:p>
            <a:pPr marL="628650" lvl="1" indent="-171450">
              <a:buFont typeface="Arial" panose="020B0604020202020204" pitchFamily="34" charset="0"/>
              <a:buChar char="•"/>
            </a:pPr>
            <a:endParaRPr lang="en-GB" dirty="0">
              <a:latin typeface="+mn-lt"/>
            </a:endParaRPr>
          </a:p>
          <a:p>
            <a:pPr marL="628650" lvl="1" indent="-171450">
              <a:buFont typeface="Arial" panose="020B0604020202020204" pitchFamily="34" charset="0"/>
              <a:buChar char="•"/>
            </a:pPr>
            <a:r>
              <a:rPr lang="en-GB" b="1" dirty="0">
                <a:latin typeface="+mn-lt"/>
              </a:rPr>
              <a:t>Explain Performance Measures</a:t>
            </a:r>
          </a:p>
          <a:p>
            <a:pPr marL="1085850" lvl="2" indent="-171450">
              <a:buFont typeface="Arial" panose="020B0604020202020204" pitchFamily="34" charset="0"/>
              <a:buChar char="•"/>
            </a:pPr>
            <a:r>
              <a:rPr lang="en-GB" dirty="0">
                <a:latin typeface="+mn-lt"/>
              </a:rPr>
              <a:t>Why we are using MSE and proposing some other form may be like max error, as large errors are more likely to wipe out your position</a:t>
            </a:r>
          </a:p>
          <a:p>
            <a:pPr marL="1085850" lvl="2" indent="-171450">
              <a:buFont typeface="Arial" panose="020B0604020202020204" pitchFamily="34" charset="0"/>
              <a:buChar char="•"/>
            </a:pPr>
            <a:r>
              <a:rPr lang="en-GB" dirty="0">
                <a:latin typeface="+mn-lt"/>
              </a:rPr>
              <a:t>When evaluating the performance of ANNs, amongst the most common statistical measures is mean squared error (MSE).</a:t>
            </a:r>
          </a:p>
          <a:p>
            <a:pPr marL="1085850" lvl="2" indent="-171450">
              <a:buFont typeface="Arial" panose="020B0604020202020204" pitchFamily="34" charset="0"/>
              <a:buChar char="•"/>
            </a:pPr>
            <a:r>
              <a:rPr lang="en-GB" b="0" dirty="0">
                <a:latin typeface="+mn-lt"/>
              </a:rPr>
              <a:t>M</a:t>
            </a:r>
            <a:r>
              <a:rPr lang="en-GB" b="0" i="0" dirty="0">
                <a:solidFill>
                  <a:srgbClr val="BDC1C6"/>
                </a:solidFill>
                <a:effectLst/>
                <a:latin typeface="+mn-lt"/>
              </a:rPr>
              <a:t>SE is used to check how close estimates or forecasts are to actual values, which is the goal of this project</a:t>
            </a:r>
            <a:endParaRPr lang="en-GB" b="0" dirty="0">
              <a:latin typeface="+mn-lt"/>
            </a:endParaRPr>
          </a:p>
          <a:p>
            <a:pPr marL="1085850" lvl="2" indent="-171450">
              <a:buFont typeface="Arial" panose="020B0604020202020204" pitchFamily="34" charset="0"/>
              <a:buChar char="•"/>
            </a:pPr>
            <a:endParaRPr lang="en-GB" dirty="0">
              <a:latin typeface="+mn-lt"/>
            </a:endParaRPr>
          </a:p>
          <a:p>
            <a:pPr marL="1085850" lvl="2" indent="-171450">
              <a:buFont typeface="Arial" panose="020B0604020202020204" pitchFamily="34" charset="0"/>
              <a:buChar char="•"/>
            </a:pPr>
            <a:endParaRPr lang="en-GB" dirty="0">
              <a:latin typeface="+mn-lt"/>
            </a:endParaRPr>
          </a:p>
          <a:p>
            <a:pPr marL="628650" lvl="1" indent="-171450">
              <a:buFont typeface="Arial" panose="020B0604020202020204" pitchFamily="34" charset="0"/>
              <a:buChar char="•"/>
            </a:pPr>
            <a:r>
              <a:rPr lang="en-GB" b="1" dirty="0">
                <a:latin typeface="+mn-lt"/>
              </a:rPr>
              <a:t>Explain The Benchmark</a:t>
            </a:r>
          </a:p>
          <a:p>
            <a:pPr marL="1085850" lvl="2" indent="-171450">
              <a:buFont typeface="Arial" panose="020B0604020202020204" pitchFamily="34" charset="0"/>
              <a:buChar char="•"/>
            </a:pPr>
            <a:r>
              <a:rPr lang="en-GB" b="0" dirty="0">
                <a:latin typeface="+mn-lt"/>
              </a:rPr>
              <a:t>BS-H </a:t>
            </a:r>
          </a:p>
          <a:p>
            <a:pPr marL="1085850" lvl="2" indent="-171450">
              <a:buFont typeface="Arial" panose="020B0604020202020204" pitchFamily="34" charset="0"/>
              <a:buChar char="•"/>
            </a:pPr>
            <a:r>
              <a:rPr lang="en-GB" b="0" dirty="0">
                <a:latin typeface="+mn-lt"/>
              </a:rPr>
              <a:t>An ANN’s performance should also be compared to a benchmark. The most widely used benchmark is the Black-Scholes with historical volatility formula.</a:t>
            </a:r>
          </a:p>
          <a:p>
            <a:pPr marL="1085850" lvl="2" indent="-171450">
              <a:buFont typeface="Arial" panose="020B0604020202020204" pitchFamily="34" charset="0"/>
              <a:buChar char="•"/>
            </a:pPr>
            <a:endParaRPr lang="en-GB" b="0" dirty="0">
              <a:latin typeface="+mn-lt"/>
            </a:endParaRPr>
          </a:p>
          <a:p>
            <a:pPr marL="628650" lvl="1" indent="-171450">
              <a:buFont typeface="Arial" panose="020B0604020202020204" pitchFamily="34" charset="0"/>
              <a:buChar char="•"/>
            </a:pPr>
            <a:r>
              <a:rPr lang="en-GB" b="1" dirty="0">
                <a:latin typeface="+mn-lt"/>
              </a:rPr>
              <a:t>Explain Partitioning:</a:t>
            </a:r>
          </a:p>
          <a:p>
            <a:pPr marL="1085850" lvl="2" indent="-171450">
              <a:buFont typeface="Arial" panose="020B0604020202020204" pitchFamily="34" charset="0"/>
              <a:buChar char="•"/>
            </a:pPr>
            <a:r>
              <a:rPr lang="en-GB" b="0" dirty="0">
                <a:latin typeface="+mn-lt"/>
              </a:rPr>
              <a:t>Has to be chronological</a:t>
            </a:r>
          </a:p>
          <a:p>
            <a:pPr marL="1085850" lvl="2" indent="-171450">
              <a:buFont typeface="Arial" panose="020B0604020202020204" pitchFamily="34" charset="0"/>
              <a:buChar char="•"/>
            </a:pPr>
            <a:r>
              <a:rPr lang="en-GB" dirty="0">
                <a:latin typeface="+mn-lt"/>
              </a:rPr>
              <a:t>Random partitioning breaks the time structure and introduces information leakage between the training set and the test set. When an ANN is trained on a training set constructed in such a way, the error on the test set underestimates the generalisation error of the ANN.  Yao et al. [2000] and </a:t>
            </a:r>
            <a:r>
              <a:rPr lang="en-GB" dirty="0" err="1">
                <a:latin typeface="+mn-lt"/>
              </a:rPr>
              <a:t>Ruf</a:t>
            </a:r>
            <a:r>
              <a:rPr lang="en-GB" dirty="0">
                <a:latin typeface="+mn-lt"/>
              </a:rPr>
              <a:t> and Wang [2020].</a:t>
            </a:r>
            <a:endParaRPr lang="en-SK" b="1" dirty="0">
              <a:latin typeface="+mn-lt"/>
            </a:endParaRPr>
          </a:p>
        </p:txBody>
      </p:sp>
      <p:sp>
        <p:nvSpPr>
          <p:cNvPr id="4" name="Slide Number Placeholder 3"/>
          <p:cNvSpPr>
            <a:spLocks noGrp="1"/>
          </p:cNvSpPr>
          <p:nvPr>
            <p:ph type="sldNum" sz="quarter" idx="5"/>
          </p:nvPr>
        </p:nvSpPr>
        <p:spPr/>
        <p:txBody>
          <a:bodyPr/>
          <a:lstStyle/>
          <a:p>
            <a:fld id="{EAAA76F9-F416-A148-83EB-1971D35F4480}" type="slidenum">
              <a:rPr lang="en-SK" smtClean="0"/>
              <a:t>5</a:t>
            </a:fld>
            <a:endParaRPr lang="en-SK"/>
          </a:p>
        </p:txBody>
      </p:sp>
    </p:spTree>
    <p:extLst>
      <p:ext uri="{BB962C8B-B14F-4D97-AF65-F5344CB8AC3E}">
        <p14:creationId xmlns:p14="http://schemas.microsoft.com/office/powerpoint/2010/main" val="80744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SK" u="sng" dirty="0"/>
              <a:t>What Data will we use for our Model </a:t>
            </a:r>
          </a:p>
          <a:p>
            <a:pPr marL="628650" lvl="1" indent="-171450">
              <a:buFont typeface="Arial" panose="020B0604020202020204" pitchFamily="34" charset="0"/>
              <a:buChar char="•"/>
            </a:pPr>
            <a:r>
              <a:rPr lang="en-SK" b="1" dirty="0"/>
              <a:t>Why SPY on Refinitiv</a:t>
            </a:r>
          </a:p>
          <a:p>
            <a:pPr marL="1085850" lvl="2" indent="-171450">
              <a:buFont typeface="Arial" panose="020B0604020202020204" pitchFamily="34" charset="0"/>
              <a:buChar char="•"/>
            </a:pPr>
            <a:r>
              <a:rPr lang="en-SK" dirty="0"/>
              <a:t>We need to have high volume/liquidity as for our HARQ model we need to utilize interday data to compute predicted Realized Volatility </a:t>
            </a:r>
          </a:p>
          <a:p>
            <a:pPr marL="1085850" lvl="2" indent="-171450">
              <a:buFont typeface="Arial" panose="020B0604020202020204" pitchFamily="34" charset="0"/>
              <a:buChar char="•"/>
            </a:pPr>
            <a:r>
              <a:rPr lang="en-SK" dirty="0"/>
              <a:t>We also need Data on option C</a:t>
            </a:r>
            <a:r>
              <a:rPr lang="en-GB" dirty="0"/>
              <a:t>h</a:t>
            </a:r>
            <a:r>
              <a:rPr lang="en-SK" dirty="0"/>
              <a:t>ains </a:t>
            </a:r>
          </a:p>
          <a:p>
            <a:pPr marL="1085850" lvl="2" indent="-171450">
              <a:buFont typeface="Arial" panose="020B0604020202020204" pitchFamily="34" charset="0"/>
              <a:buChar char="•"/>
            </a:pPr>
            <a:r>
              <a:rPr lang="en-SK" dirty="0"/>
              <a:t>Both of these Data Sources can be found on Refinitiv</a:t>
            </a:r>
          </a:p>
          <a:p>
            <a:pPr marL="1085850" lvl="2" indent="-171450">
              <a:buFont typeface="Arial" panose="020B0604020202020204" pitchFamily="34" charset="0"/>
              <a:buChar char="•"/>
            </a:pPr>
            <a:r>
              <a:rPr lang="en-SK" dirty="0"/>
              <a:t>Other Data Sources for Volume and Risk-Free Rates can also be accessed via t</a:t>
            </a:r>
            <a:r>
              <a:rPr lang="en-GB" dirty="0"/>
              <a:t>he</a:t>
            </a:r>
            <a:r>
              <a:rPr lang="en-SK" dirty="0"/>
              <a:t> API</a:t>
            </a:r>
          </a:p>
        </p:txBody>
      </p:sp>
      <p:sp>
        <p:nvSpPr>
          <p:cNvPr id="4" name="Slide Number Placeholder 3"/>
          <p:cNvSpPr>
            <a:spLocks noGrp="1"/>
          </p:cNvSpPr>
          <p:nvPr>
            <p:ph type="sldNum" sz="quarter" idx="5"/>
          </p:nvPr>
        </p:nvSpPr>
        <p:spPr/>
        <p:txBody>
          <a:bodyPr/>
          <a:lstStyle/>
          <a:p>
            <a:fld id="{EAAA76F9-F416-A148-83EB-1971D35F4480}" type="slidenum">
              <a:rPr lang="en-SK" smtClean="0"/>
              <a:t>6</a:t>
            </a:fld>
            <a:endParaRPr lang="en-SK"/>
          </a:p>
        </p:txBody>
      </p:sp>
    </p:spTree>
    <p:extLst>
      <p:ext uri="{BB962C8B-B14F-4D97-AF65-F5344CB8AC3E}">
        <p14:creationId xmlns:p14="http://schemas.microsoft.com/office/powerpoint/2010/main" val="970613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0B4FE-6EFE-0521-A197-014CE91A55D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K"/>
          </a:p>
        </p:txBody>
      </p:sp>
      <p:sp>
        <p:nvSpPr>
          <p:cNvPr id="3" name="Subtitle 2">
            <a:extLst>
              <a:ext uri="{FF2B5EF4-FFF2-40B4-BE49-F238E27FC236}">
                <a16:creationId xmlns:a16="http://schemas.microsoft.com/office/drawing/2014/main" id="{2CBA522A-55E5-2219-ACCF-2F349AA559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K"/>
          </a:p>
        </p:txBody>
      </p:sp>
      <p:sp>
        <p:nvSpPr>
          <p:cNvPr id="4" name="Date Placeholder 3">
            <a:extLst>
              <a:ext uri="{FF2B5EF4-FFF2-40B4-BE49-F238E27FC236}">
                <a16:creationId xmlns:a16="http://schemas.microsoft.com/office/drawing/2014/main" id="{772BC2A5-08BC-9058-0DE5-1021BF3A30B6}"/>
              </a:ext>
            </a:extLst>
          </p:cNvPr>
          <p:cNvSpPr>
            <a:spLocks noGrp="1"/>
          </p:cNvSpPr>
          <p:nvPr>
            <p:ph type="dt" sz="half" idx="10"/>
          </p:nvPr>
        </p:nvSpPr>
        <p:spPr/>
        <p:txBody>
          <a:bodyPr/>
          <a:lstStyle/>
          <a:p>
            <a:fld id="{21B47DE0-1417-A946-B041-F497A0DB6BED}" type="datetimeFigureOut">
              <a:rPr lang="en-SK" smtClean="0"/>
              <a:t>12/12/2022</a:t>
            </a:fld>
            <a:endParaRPr lang="en-SK"/>
          </a:p>
        </p:txBody>
      </p:sp>
      <p:sp>
        <p:nvSpPr>
          <p:cNvPr id="5" name="Footer Placeholder 4">
            <a:extLst>
              <a:ext uri="{FF2B5EF4-FFF2-40B4-BE49-F238E27FC236}">
                <a16:creationId xmlns:a16="http://schemas.microsoft.com/office/drawing/2014/main" id="{A8BA8AD4-4546-AF8C-72D2-5185B8784E7C}"/>
              </a:ext>
            </a:extLst>
          </p:cNvPr>
          <p:cNvSpPr>
            <a:spLocks noGrp="1"/>
          </p:cNvSpPr>
          <p:nvPr>
            <p:ph type="ftr" sz="quarter" idx="11"/>
          </p:nvPr>
        </p:nvSpPr>
        <p:spPr/>
        <p:txBody>
          <a:bodyPr/>
          <a:lstStyle/>
          <a:p>
            <a:endParaRPr lang="en-SK"/>
          </a:p>
        </p:txBody>
      </p:sp>
      <p:sp>
        <p:nvSpPr>
          <p:cNvPr id="6" name="Slide Number Placeholder 5">
            <a:extLst>
              <a:ext uri="{FF2B5EF4-FFF2-40B4-BE49-F238E27FC236}">
                <a16:creationId xmlns:a16="http://schemas.microsoft.com/office/drawing/2014/main" id="{DD9B0FCD-90A5-F1A6-8C4B-516B8BFAB9E1}"/>
              </a:ext>
            </a:extLst>
          </p:cNvPr>
          <p:cNvSpPr>
            <a:spLocks noGrp="1"/>
          </p:cNvSpPr>
          <p:nvPr>
            <p:ph type="sldNum" sz="quarter" idx="12"/>
          </p:nvPr>
        </p:nvSpPr>
        <p:spPr/>
        <p:txBody>
          <a:bodyPr/>
          <a:lstStyle/>
          <a:p>
            <a:fld id="{F93ECA09-1469-A44B-85A6-BF259541CC52}" type="slidenum">
              <a:rPr lang="en-SK" smtClean="0"/>
              <a:t>‹#›</a:t>
            </a:fld>
            <a:endParaRPr lang="en-SK"/>
          </a:p>
        </p:txBody>
      </p:sp>
    </p:spTree>
    <p:extLst>
      <p:ext uri="{BB962C8B-B14F-4D97-AF65-F5344CB8AC3E}">
        <p14:creationId xmlns:p14="http://schemas.microsoft.com/office/powerpoint/2010/main" val="2292770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5073D-AFC1-7336-133E-18A4D7AD8E07}"/>
              </a:ext>
            </a:extLst>
          </p:cNvPr>
          <p:cNvSpPr>
            <a:spLocks noGrp="1"/>
          </p:cNvSpPr>
          <p:nvPr>
            <p:ph type="title"/>
          </p:nvPr>
        </p:nvSpPr>
        <p:spPr/>
        <p:txBody>
          <a:bodyPr/>
          <a:lstStyle/>
          <a:p>
            <a:r>
              <a:rPr lang="en-GB"/>
              <a:t>Click to edit Master title style</a:t>
            </a:r>
            <a:endParaRPr lang="en-SK"/>
          </a:p>
        </p:txBody>
      </p:sp>
      <p:sp>
        <p:nvSpPr>
          <p:cNvPr id="3" name="Content Placeholder 2">
            <a:extLst>
              <a:ext uri="{FF2B5EF4-FFF2-40B4-BE49-F238E27FC236}">
                <a16:creationId xmlns:a16="http://schemas.microsoft.com/office/drawing/2014/main" id="{14E4F344-FA1B-E3FE-A688-D7C9ABB9602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K"/>
          </a:p>
        </p:txBody>
      </p:sp>
      <p:sp>
        <p:nvSpPr>
          <p:cNvPr id="4" name="Date Placeholder 3">
            <a:extLst>
              <a:ext uri="{FF2B5EF4-FFF2-40B4-BE49-F238E27FC236}">
                <a16:creationId xmlns:a16="http://schemas.microsoft.com/office/drawing/2014/main" id="{4D39D39E-5049-D5F0-E2AB-F6F7B64C0E49}"/>
              </a:ext>
            </a:extLst>
          </p:cNvPr>
          <p:cNvSpPr>
            <a:spLocks noGrp="1"/>
          </p:cNvSpPr>
          <p:nvPr>
            <p:ph type="dt" sz="half" idx="10"/>
          </p:nvPr>
        </p:nvSpPr>
        <p:spPr/>
        <p:txBody>
          <a:bodyPr/>
          <a:lstStyle/>
          <a:p>
            <a:fld id="{21B47DE0-1417-A946-B041-F497A0DB6BED}" type="datetimeFigureOut">
              <a:rPr lang="en-SK" smtClean="0"/>
              <a:t>12/12/2022</a:t>
            </a:fld>
            <a:endParaRPr lang="en-SK"/>
          </a:p>
        </p:txBody>
      </p:sp>
      <p:sp>
        <p:nvSpPr>
          <p:cNvPr id="5" name="Footer Placeholder 4">
            <a:extLst>
              <a:ext uri="{FF2B5EF4-FFF2-40B4-BE49-F238E27FC236}">
                <a16:creationId xmlns:a16="http://schemas.microsoft.com/office/drawing/2014/main" id="{C2904CE5-222A-F72B-3583-0E2DF5229023}"/>
              </a:ext>
            </a:extLst>
          </p:cNvPr>
          <p:cNvSpPr>
            <a:spLocks noGrp="1"/>
          </p:cNvSpPr>
          <p:nvPr>
            <p:ph type="ftr" sz="quarter" idx="11"/>
          </p:nvPr>
        </p:nvSpPr>
        <p:spPr/>
        <p:txBody>
          <a:bodyPr/>
          <a:lstStyle/>
          <a:p>
            <a:endParaRPr lang="en-SK"/>
          </a:p>
        </p:txBody>
      </p:sp>
      <p:sp>
        <p:nvSpPr>
          <p:cNvPr id="6" name="Slide Number Placeholder 5">
            <a:extLst>
              <a:ext uri="{FF2B5EF4-FFF2-40B4-BE49-F238E27FC236}">
                <a16:creationId xmlns:a16="http://schemas.microsoft.com/office/drawing/2014/main" id="{22A002F0-B253-175E-AB96-BED8B470AE93}"/>
              </a:ext>
            </a:extLst>
          </p:cNvPr>
          <p:cNvSpPr>
            <a:spLocks noGrp="1"/>
          </p:cNvSpPr>
          <p:nvPr>
            <p:ph type="sldNum" sz="quarter" idx="12"/>
          </p:nvPr>
        </p:nvSpPr>
        <p:spPr/>
        <p:txBody>
          <a:bodyPr/>
          <a:lstStyle/>
          <a:p>
            <a:fld id="{F442A401-92F6-4440-9B3F-F797DB4DE329}" type="slidenum">
              <a:rPr lang="en-SK" smtClean="0"/>
              <a:t>‹#›</a:t>
            </a:fld>
            <a:endParaRPr lang="en-SK"/>
          </a:p>
        </p:txBody>
      </p:sp>
    </p:spTree>
    <p:extLst>
      <p:ext uri="{BB962C8B-B14F-4D97-AF65-F5344CB8AC3E}">
        <p14:creationId xmlns:p14="http://schemas.microsoft.com/office/powerpoint/2010/main" val="27621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9AF11-1335-D65A-5BB7-28F165BF7A4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SK"/>
          </a:p>
        </p:txBody>
      </p:sp>
      <p:sp>
        <p:nvSpPr>
          <p:cNvPr id="3" name="Text Placeholder 2">
            <a:extLst>
              <a:ext uri="{FF2B5EF4-FFF2-40B4-BE49-F238E27FC236}">
                <a16:creationId xmlns:a16="http://schemas.microsoft.com/office/drawing/2014/main" id="{941A3914-CDA1-413F-8057-C392BB9B39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855FE83-8CB7-362E-BFB3-236B4FB3A252}"/>
              </a:ext>
            </a:extLst>
          </p:cNvPr>
          <p:cNvSpPr>
            <a:spLocks noGrp="1"/>
          </p:cNvSpPr>
          <p:nvPr>
            <p:ph type="dt" sz="half" idx="10"/>
          </p:nvPr>
        </p:nvSpPr>
        <p:spPr/>
        <p:txBody>
          <a:bodyPr/>
          <a:lstStyle/>
          <a:p>
            <a:fld id="{21B47DE0-1417-A946-B041-F497A0DB6BED}" type="datetimeFigureOut">
              <a:rPr lang="en-SK" smtClean="0"/>
              <a:t>12/12/2022</a:t>
            </a:fld>
            <a:endParaRPr lang="en-SK"/>
          </a:p>
        </p:txBody>
      </p:sp>
      <p:sp>
        <p:nvSpPr>
          <p:cNvPr id="5" name="Footer Placeholder 4">
            <a:extLst>
              <a:ext uri="{FF2B5EF4-FFF2-40B4-BE49-F238E27FC236}">
                <a16:creationId xmlns:a16="http://schemas.microsoft.com/office/drawing/2014/main" id="{371F5F12-5847-AC78-9A31-6CF75CD17CDA}"/>
              </a:ext>
            </a:extLst>
          </p:cNvPr>
          <p:cNvSpPr>
            <a:spLocks noGrp="1"/>
          </p:cNvSpPr>
          <p:nvPr>
            <p:ph type="ftr" sz="quarter" idx="11"/>
          </p:nvPr>
        </p:nvSpPr>
        <p:spPr/>
        <p:txBody>
          <a:bodyPr/>
          <a:lstStyle/>
          <a:p>
            <a:endParaRPr lang="en-SK"/>
          </a:p>
        </p:txBody>
      </p:sp>
      <p:sp>
        <p:nvSpPr>
          <p:cNvPr id="6" name="Slide Number Placeholder 5">
            <a:extLst>
              <a:ext uri="{FF2B5EF4-FFF2-40B4-BE49-F238E27FC236}">
                <a16:creationId xmlns:a16="http://schemas.microsoft.com/office/drawing/2014/main" id="{779809F9-6C9E-66EB-44CC-A2D75B101DED}"/>
              </a:ext>
            </a:extLst>
          </p:cNvPr>
          <p:cNvSpPr>
            <a:spLocks noGrp="1"/>
          </p:cNvSpPr>
          <p:nvPr>
            <p:ph type="sldNum" sz="quarter" idx="12"/>
          </p:nvPr>
        </p:nvSpPr>
        <p:spPr/>
        <p:txBody>
          <a:bodyPr/>
          <a:lstStyle/>
          <a:p>
            <a:fld id="{F442A401-92F6-4440-9B3F-F797DB4DE329}" type="slidenum">
              <a:rPr lang="en-SK" smtClean="0"/>
              <a:t>‹#›</a:t>
            </a:fld>
            <a:endParaRPr lang="en-SK"/>
          </a:p>
        </p:txBody>
      </p:sp>
    </p:spTree>
    <p:extLst>
      <p:ext uri="{BB962C8B-B14F-4D97-AF65-F5344CB8AC3E}">
        <p14:creationId xmlns:p14="http://schemas.microsoft.com/office/powerpoint/2010/main" val="443800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D53ED-79DE-1AAF-823F-D343D75D0ECD}"/>
              </a:ext>
            </a:extLst>
          </p:cNvPr>
          <p:cNvSpPr>
            <a:spLocks noGrp="1"/>
          </p:cNvSpPr>
          <p:nvPr>
            <p:ph type="title"/>
          </p:nvPr>
        </p:nvSpPr>
        <p:spPr/>
        <p:txBody>
          <a:bodyPr/>
          <a:lstStyle/>
          <a:p>
            <a:r>
              <a:rPr lang="en-GB"/>
              <a:t>Click to edit Master title style</a:t>
            </a:r>
            <a:endParaRPr lang="en-SK"/>
          </a:p>
        </p:txBody>
      </p:sp>
      <p:sp>
        <p:nvSpPr>
          <p:cNvPr id="3" name="Content Placeholder 2">
            <a:extLst>
              <a:ext uri="{FF2B5EF4-FFF2-40B4-BE49-F238E27FC236}">
                <a16:creationId xmlns:a16="http://schemas.microsoft.com/office/drawing/2014/main" id="{C9E87C7A-6DA8-10A9-7564-3C3F3EB11CC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K"/>
          </a:p>
        </p:txBody>
      </p:sp>
      <p:sp>
        <p:nvSpPr>
          <p:cNvPr id="4" name="Content Placeholder 3">
            <a:extLst>
              <a:ext uri="{FF2B5EF4-FFF2-40B4-BE49-F238E27FC236}">
                <a16:creationId xmlns:a16="http://schemas.microsoft.com/office/drawing/2014/main" id="{42D2D37D-0461-1904-CB54-A52C523CC56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K"/>
          </a:p>
        </p:txBody>
      </p:sp>
      <p:sp>
        <p:nvSpPr>
          <p:cNvPr id="5" name="Date Placeholder 4">
            <a:extLst>
              <a:ext uri="{FF2B5EF4-FFF2-40B4-BE49-F238E27FC236}">
                <a16:creationId xmlns:a16="http://schemas.microsoft.com/office/drawing/2014/main" id="{15F02F53-8D43-4F17-1E23-EF63476FD623}"/>
              </a:ext>
            </a:extLst>
          </p:cNvPr>
          <p:cNvSpPr>
            <a:spLocks noGrp="1"/>
          </p:cNvSpPr>
          <p:nvPr>
            <p:ph type="dt" sz="half" idx="10"/>
          </p:nvPr>
        </p:nvSpPr>
        <p:spPr/>
        <p:txBody>
          <a:bodyPr/>
          <a:lstStyle/>
          <a:p>
            <a:fld id="{21B47DE0-1417-A946-B041-F497A0DB6BED}" type="datetimeFigureOut">
              <a:rPr lang="en-SK" smtClean="0"/>
              <a:t>12/12/2022</a:t>
            </a:fld>
            <a:endParaRPr lang="en-SK"/>
          </a:p>
        </p:txBody>
      </p:sp>
      <p:sp>
        <p:nvSpPr>
          <p:cNvPr id="6" name="Footer Placeholder 5">
            <a:extLst>
              <a:ext uri="{FF2B5EF4-FFF2-40B4-BE49-F238E27FC236}">
                <a16:creationId xmlns:a16="http://schemas.microsoft.com/office/drawing/2014/main" id="{FF4EB603-6922-69BD-7C8E-6F1CD818E769}"/>
              </a:ext>
            </a:extLst>
          </p:cNvPr>
          <p:cNvSpPr>
            <a:spLocks noGrp="1"/>
          </p:cNvSpPr>
          <p:nvPr>
            <p:ph type="ftr" sz="quarter" idx="11"/>
          </p:nvPr>
        </p:nvSpPr>
        <p:spPr/>
        <p:txBody>
          <a:bodyPr/>
          <a:lstStyle/>
          <a:p>
            <a:endParaRPr lang="en-SK"/>
          </a:p>
        </p:txBody>
      </p:sp>
      <p:sp>
        <p:nvSpPr>
          <p:cNvPr id="7" name="Slide Number Placeholder 6">
            <a:extLst>
              <a:ext uri="{FF2B5EF4-FFF2-40B4-BE49-F238E27FC236}">
                <a16:creationId xmlns:a16="http://schemas.microsoft.com/office/drawing/2014/main" id="{83C1258D-A204-4587-8F2C-343BE553C090}"/>
              </a:ext>
            </a:extLst>
          </p:cNvPr>
          <p:cNvSpPr>
            <a:spLocks noGrp="1"/>
          </p:cNvSpPr>
          <p:nvPr>
            <p:ph type="sldNum" sz="quarter" idx="12"/>
          </p:nvPr>
        </p:nvSpPr>
        <p:spPr/>
        <p:txBody>
          <a:bodyPr/>
          <a:lstStyle/>
          <a:p>
            <a:fld id="{F442A401-92F6-4440-9B3F-F797DB4DE329}" type="slidenum">
              <a:rPr lang="en-SK" smtClean="0"/>
              <a:t>‹#›</a:t>
            </a:fld>
            <a:endParaRPr lang="en-SK"/>
          </a:p>
        </p:txBody>
      </p:sp>
    </p:spTree>
    <p:extLst>
      <p:ext uri="{BB962C8B-B14F-4D97-AF65-F5344CB8AC3E}">
        <p14:creationId xmlns:p14="http://schemas.microsoft.com/office/powerpoint/2010/main" val="2586307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C49D7-79DC-1890-2658-DB2686782676}"/>
              </a:ext>
            </a:extLst>
          </p:cNvPr>
          <p:cNvSpPr>
            <a:spLocks noGrp="1"/>
          </p:cNvSpPr>
          <p:nvPr>
            <p:ph type="title"/>
          </p:nvPr>
        </p:nvSpPr>
        <p:spPr>
          <a:xfrm>
            <a:off x="839788" y="365125"/>
            <a:ext cx="10515600" cy="1325563"/>
          </a:xfrm>
        </p:spPr>
        <p:txBody>
          <a:bodyPr/>
          <a:lstStyle/>
          <a:p>
            <a:r>
              <a:rPr lang="en-GB"/>
              <a:t>Click to edit Master title style</a:t>
            </a:r>
            <a:endParaRPr lang="en-SK"/>
          </a:p>
        </p:txBody>
      </p:sp>
      <p:sp>
        <p:nvSpPr>
          <p:cNvPr id="3" name="Text Placeholder 2">
            <a:extLst>
              <a:ext uri="{FF2B5EF4-FFF2-40B4-BE49-F238E27FC236}">
                <a16:creationId xmlns:a16="http://schemas.microsoft.com/office/drawing/2014/main" id="{7AD745F5-B4C8-9418-9558-FC09D26C10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42CC28-1557-4085-362B-471D8271BFB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K"/>
          </a:p>
        </p:txBody>
      </p:sp>
      <p:sp>
        <p:nvSpPr>
          <p:cNvPr id="5" name="Text Placeholder 4">
            <a:extLst>
              <a:ext uri="{FF2B5EF4-FFF2-40B4-BE49-F238E27FC236}">
                <a16:creationId xmlns:a16="http://schemas.microsoft.com/office/drawing/2014/main" id="{01DAABCE-2565-29EC-6DD2-B94D926CBD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713258C-4066-9BCC-161D-7D426922937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K"/>
          </a:p>
        </p:txBody>
      </p:sp>
      <p:sp>
        <p:nvSpPr>
          <p:cNvPr id="7" name="Date Placeholder 6">
            <a:extLst>
              <a:ext uri="{FF2B5EF4-FFF2-40B4-BE49-F238E27FC236}">
                <a16:creationId xmlns:a16="http://schemas.microsoft.com/office/drawing/2014/main" id="{9E11A813-99A6-6DFC-794D-B02FED917272}"/>
              </a:ext>
            </a:extLst>
          </p:cNvPr>
          <p:cNvSpPr>
            <a:spLocks noGrp="1"/>
          </p:cNvSpPr>
          <p:nvPr>
            <p:ph type="dt" sz="half" idx="10"/>
          </p:nvPr>
        </p:nvSpPr>
        <p:spPr/>
        <p:txBody>
          <a:bodyPr/>
          <a:lstStyle/>
          <a:p>
            <a:fld id="{21B47DE0-1417-A946-B041-F497A0DB6BED}" type="datetimeFigureOut">
              <a:rPr lang="en-SK" smtClean="0"/>
              <a:t>12/12/2022</a:t>
            </a:fld>
            <a:endParaRPr lang="en-SK"/>
          </a:p>
        </p:txBody>
      </p:sp>
      <p:sp>
        <p:nvSpPr>
          <p:cNvPr id="8" name="Footer Placeholder 7">
            <a:extLst>
              <a:ext uri="{FF2B5EF4-FFF2-40B4-BE49-F238E27FC236}">
                <a16:creationId xmlns:a16="http://schemas.microsoft.com/office/drawing/2014/main" id="{3767C7C3-4614-8814-E83C-2AC130B40A6C}"/>
              </a:ext>
            </a:extLst>
          </p:cNvPr>
          <p:cNvSpPr>
            <a:spLocks noGrp="1"/>
          </p:cNvSpPr>
          <p:nvPr>
            <p:ph type="ftr" sz="quarter" idx="11"/>
          </p:nvPr>
        </p:nvSpPr>
        <p:spPr/>
        <p:txBody>
          <a:bodyPr/>
          <a:lstStyle/>
          <a:p>
            <a:endParaRPr lang="en-SK"/>
          </a:p>
        </p:txBody>
      </p:sp>
      <p:sp>
        <p:nvSpPr>
          <p:cNvPr id="9" name="Slide Number Placeholder 8">
            <a:extLst>
              <a:ext uri="{FF2B5EF4-FFF2-40B4-BE49-F238E27FC236}">
                <a16:creationId xmlns:a16="http://schemas.microsoft.com/office/drawing/2014/main" id="{96013F9A-0C5D-C09A-A357-F97446BF5201}"/>
              </a:ext>
            </a:extLst>
          </p:cNvPr>
          <p:cNvSpPr>
            <a:spLocks noGrp="1"/>
          </p:cNvSpPr>
          <p:nvPr>
            <p:ph type="sldNum" sz="quarter" idx="12"/>
          </p:nvPr>
        </p:nvSpPr>
        <p:spPr/>
        <p:txBody>
          <a:bodyPr/>
          <a:lstStyle/>
          <a:p>
            <a:fld id="{F442A401-92F6-4440-9B3F-F797DB4DE329}" type="slidenum">
              <a:rPr lang="en-SK" smtClean="0"/>
              <a:t>‹#›</a:t>
            </a:fld>
            <a:endParaRPr lang="en-SK"/>
          </a:p>
        </p:txBody>
      </p:sp>
    </p:spTree>
    <p:extLst>
      <p:ext uri="{BB962C8B-B14F-4D97-AF65-F5344CB8AC3E}">
        <p14:creationId xmlns:p14="http://schemas.microsoft.com/office/powerpoint/2010/main" val="3666717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0EA8F-3B0D-06FA-D0F8-625CE45A1D0C}"/>
              </a:ext>
            </a:extLst>
          </p:cNvPr>
          <p:cNvSpPr>
            <a:spLocks noGrp="1"/>
          </p:cNvSpPr>
          <p:nvPr>
            <p:ph type="title"/>
          </p:nvPr>
        </p:nvSpPr>
        <p:spPr/>
        <p:txBody>
          <a:bodyPr/>
          <a:lstStyle/>
          <a:p>
            <a:r>
              <a:rPr lang="en-GB"/>
              <a:t>Click to edit Master title style</a:t>
            </a:r>
            <a:endParaRPr lang="en-SK"/>
          </a:p>
        </p:txBody>
      </p:sp>
      <p:sp>
        <p:nvSpPr>
          <p:cNvPr id="3" name="Date Placeholder 2">
            <a:extLst>
              <a:ext uri="{FF2B5EF4-FFF2-40B4-BE49-F238E27FC236}">
                <a16:creationId xmlns:a16="http://schemas.microsoft.com/office/drawing/2014/main" id="{7676E10B-DD19-82E8-91DC-E8E57C34A3D7}"/>
              </a:ext>
            </a:extLst>
          </p:cNvPr>
          <p:cNvSpPr>
            <a:spLocks noGrp="1"/>
          </p:cNvSpPr>
          <p:nvPr>
            <p:ph type="dt" sz="half" idx="10"/>
          </p:nvPr>
        </p:nvSpPr>
        <p:spPr/>
        <p:txBody>
          <a:bodyPr/>
          <a:lstStyle/>
          <a:p>
            <a:fld id="{21B47DE0-1417-A946-B041-F497A0DB6BED}" type="datetimeFigureOut">
              <a:rPr lang="en-SK" smtClean="0"/>
              <a:t>12/12/2022</a:t>
            </a:fld>
            <a:endParaRPr lang="en-SK"/>
          </a:p>
        </p:txBody>
      </p:sp>
      <p:sp>
        <p:nvSpPr>
          <p:cNvPr id="4" name="Footer Placeholder 3">
            <a:extLst>
              <a:ext uri="{FF2B5EF4-FFF2-40B4-BE49-F238E27FC236}">
                <a16:creationId xmlns:a16="http://schemas.microsoft.com/office/drawing/2014/main" id="{40EA7675-80F4-5DCE-A9D1-DF5C75E73895}"/>
              </a:ext>
            </a:extLst>
          </p:cNvPr>
          <p:cNvSpPr>
            <a:spLocks noGrp="1"/>
          </p:cNvSpPr>
          <p:nvPr>
            <p:ph type="ftr" sz="quarter" idx="11"/>
          </p:nvPr>
        </p:nvSpPr>
        <p:spPr/>
        <p:txBody>
          <a:bodyPr/>
          <a:lstStyle/>
          <a:p>
            <a:endParaRPr lang="en-SK"/>
          </a:p>
        </p:txBody>
      </p:sp>
      <p:sp>
        <p:nvSpPr>
          <p:cNvPr id="5" name="Slide Number Placeholder 4">
            <a:extLst>
              <a:ext uri="{FF2B5EF4-FFF2-40B4-BE49-F238E27FC236}">
                <a16:creationId xmlns:a16="http://schemas.microsoft.com/office/drawing/2014/main" id="{B6672BFD-8AAA-ABEF-707D-087DCE8F7D0C}"/>
              </a:ext>
            </a:extLst>
          </p:cNvPr>
          <p:cNvSpPr>
            <a:spLocks noGrp="1"/>
          </p:cNvSpPr>
          <p:nvPr>
            <p:ph type="sldNum" sz="quarter" idx="12"/>
          </p:nvPr>
        </p:nvSpPr>
        <p:spPr/>
        <p:txBody>
          <a:bodyPr/>
          <a:lstStyle/>
          <a:p>
            <a:fld id="{F442A401-92F6-4440-9B3F-F797DB4DE329}" type="slidenum">
              <a:rPr lang="en-SK" smtClean="0"/>
              <a:t>‹#›</a:t>
            </a:fld>
            <a:endParaRPr lang="en-SK"/>
          </a:p>
        </p:txBody>
      </p:sp>
    </p:spTree>
    <p:extLst>
      <p:ext uri="{BB962C8B-B14F-4D97-AF65-F5344CB8AC3E}">
        <p14:creationId xmlns:p14="http://schemas.microsoft.com/office/powerpoint/2010/main" val="3429799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BF5CCA-3D6D-0B61-44CC-E86ADF8028DC}"/>
              </a:ext>
            </a:extLst>
          </p:cNvPr>
          <p:cNvSpPr>
            <a:spLocks noGrp="1"/>
          </p:cNvSpPr>
          <p:nvPr>
            <p:ph type="dt" sz="half" idx="10"/>
          </p:nvPr>
        </p:nvSpPr>
        <p:spPr/>
        <p:txBody>
          <a:bodyPr/>
          <a:lstStyle/>
          <a:p>
            <a:fld id="{21B47DE0-1417-A946-B041-F497A0DB6BED}" type="datetimeFigureOut">
              <a:rPr lang="en-SK" smtClean="0"/>
              <a:t>12/12/2022</a:t>
            </a:fld>
            <a:endParaRPr lang="en-SK"/>
          </a:p>
        </p:txBody>
      </p:sp>
      <p:sp>
        <p:nvSpPr>
          <p:cNvPr id="3" name="Footer Placeholder 2">
            <a:extLst>
              <a:ext uri="{FF2B5EF4-FFF2-40B4-BE49-F238E27FC236}">
                <a16:creationId xmlns:a16="http://schemas.microsoft.com/office/drawing/2014/main" id="{7C1B4FF0-2F40-D115-3CE8-E24EC0A25911}"/>
              </a:ext>
            </a:extLst>
          </p:cNvPr>
          <p:cNvSpPr>
            <a:spLocks noGrp="1"/>
          </p:cNvSpPr>
          <p:nvPr>
            <p:ph type="ftr" sz="quarter" idx="11"/>
          </p:nvPr>
        </p:nvSpPr>
        <p:spPr/>
        <p:txBody>
          <a:bodyPr/>
          <a:lstStyle/>
          <a:p>
            <a:endParaRPr lang="en-SK"/>
          </a:p>
        </p:txBody>
      </p:sp>
      <p:sp>
        <p:nvSpPr>
          <p:cNvPr id="4" name="Slide Number Placeholder 3">
            <a:extLst>
              <a:ext uri="{FF2B5EF4-FFF2-40B4-BE49-F238E27FC236}">
                <a16:creationId xmlns:a16="http://schemas.microsoft.com/office/drawing/2014/main" id="{0F8EAECE-3D76-07B2-F226-66EC29731833}"/>
              </a:ext>
            </a:extLst>
          </p:cNvPr>
          <p:cNvSpPr>
            <a:spLocks noGrp="1"/>
          </p:cNvSpPr>
          <p:nvPr>
            <p:ph type="sldNum" sz="quarter" idx="12"/>
          </p:nvPr>
        </p:nvSpPr>
        <p:spPr/>
        <p:txBody>
          <a:bodyPr/>
          <a:lstStyle/>
          <a:p>
            <a:fld id="{F442A401-92F6-4440-9B3F-F797DB4DE329}" type="slidenum">
              <a:rPr lang="en-SK" smtClean="0"/>
              <a:t>‹#›</a:t>
            </a:fld>
            <a:endParaRPr lang="en-SK"/>
          </a:p>
        </p:txBody>
      </p:sp>
    </p:spTree>
    <p:extLst>
      <p:ext uri="{BB962C8B-B14F-4D97-AF65-F5344CB8AC3E}">
        <p14:creationId xmlns:p14="http://schemas.microsoft.com/office/powerpoint/2010/main" val="3255952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1E7D4-460D-40BA-A885-D6737BF4A2A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K"/>
          </a:p>
        </p:txBody>
      </p:sp>
      <p:sp>
        <p:nvSpPr>
          <p:cNvPr id="3" name="Content Placeholder 2">
            <a:extLst>
              <a:ext uri="{FF2B5EF4-FFF2-40B4-BE49-F238E27FC236}">
                <a16:creationId xmlns:a16="http://schemas.microsoft.com/office/drawing/2014/main" id="{AB3474CE-C78C-2021-80B7-1A109093C6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K"/>
          </a:p>
        </p:txBody>
      </p:sp>
      <p:sp>
        <p:nvSpPr>
          <p:cNvPr id="4" name="Text Placeholder 3">
            <a:extLst>
              <a:ext uri="{FF2B5EF4-FFF2-40B4-BE49-F238E27FC236}">
                <a16:creationId xmlns:a16="http://schemas.microsoft.com/office/drawing/2014/main" id="{83775E5A-B46B-14A1-0A35-DE80FEE37C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25ECB68-5728-79C5-D26C-366C32B38840}"/>
              </a:ext>
            </a:extLst>
          </p:cNvPr>
          <p:cNvSpPr>
            <a:spLocks noGrp="1"/>
          </p:cNvSpPr>
          <p:nvPr>
            <p:ph type="dt" sz="half" idx="10"/>
          </p:nvPr>
        </p:nvSpPr>
        <p:spPr/>
        <p:txBody>
          <a:bodyPr/>
          <a:lstStyle/>
          <a:p>
            <a:fld id="{21B47DE0-1417-A946-B041-F497A0DB6BED}" type="datetimeFigureOut">
              <a:rPr lang="en-SK" smtClean="0"/>
              <a:t>12/12/2022</a:t>
            </a:fld>
            <a:endParaRPr lang="en-SK"/>
          </a:p>
        </p:txBody>
      </p:sp>
      <p:sp>
        <p:nvSpPr>
          <p:cNvPr id="6" name="Footer Placeholder 5">
            <a:extLst>
              <a:ext uri="{FF2B5EF4-FFF2-40B4-BE49-F238E27FC236}">
                <a16:creationId xmlns:a16="http://schemas.microsoft.com/office/drawing/2014/main" id="{F1699E13-9210-2606-1B56-ABB158A55411}"/>
              </a:ext>
            </a:extLst>
          </p:cNvPr>
          <p:cNvSpPr>
            <a:spLocks noGrp="1"/>
          </p:cNvSpPr>
          <p:nvPr>
            <p:ph type="ftr" sz="quarter" idx="11"/>
          </p:nvPr>
        </p:nvSpPr>
        <p:spPr/>
        <p:txBody>
          <a:bodyPr/>
          <a:lstStyle/>
          <a:p>
            <a:endParaRPr lang="en-SK"/>
          </a:p>
        </p:txBody>
      </p:sp>
      <p:sp>
        <p:nvSpPr>
          <p:cNvPr id="7" name="Slide Number Placeholder 6">
            <a:extLst>
              <a:ext uri="{FF2B5EF4-FFF2-40B4-BE49-F238E27FC236}">
                <a16:creationId xmlns:a16="http://schemas.microsoft.com/office/drawing/2014/main" id="{96F99F58-430B-8A28-C40E-E4E0A6CC091D}"/>
              </a:ext>
            </a:extLst>
          </p:cNvPr>
          <p:cNvSpPr>
            <a:spLocks noGrp="1"/>
          </p:cNvSpPr>
          <p:nvPr>
            <p:ph type="sldNum" sz="quarter" idx="12"/>
          </p:nvPr>
        </p:nvSpPr>
        <p:spPr/>
        <p:txBody>
          <a:bodyPr/>
          <a:lstStyle/>
          <a:p>
            <a:fld id="{F442A401-92F6-4440-9B3F-F797DB4DE329}" type="slidenum">
              <a:rPr lang="en-SK" smtClean="0"/>
              <a:t>‹#›</a:t>
            </a:fld>
            <a:endParaRPr lang="en-SK"/>
          </a:p>
        </p:txBody>
      </p:sp>
    </p:spTree>
    <p:extLst>
      <p:ext uri="{BB962C8B-B14F-4D97-AF65-F5344CB8AC3E}">
        <p14:creationId xmlns:p14="http://schemas.microsoft.com/office/powerpoint/2010/main" val="3978210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94F4F-EEAB-6AF2-1E7D-014DDA4B1B2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K"/>
          </a:p>
        </p:txBody>
      </p:sp>
      <p:sp>
        <p:nvSpPr>
          <p:cNvPr id="3" name="Picture Placeholder 2">
            <a:extLst>
              <a:ext uri="{FF2B5EF4-FFF2-40B4-BE49-F238E27FC236}">
                <a16:creationId xmlns:a16="http://schemas.microsoft.com/office/drawing/2014/main" id="{596C7BC4-C2AE-B214-7DDF-096A496A07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K"/>
          </a:p>
        </p:txBody>
      </p:sp>
      <p:sp>
        <p:nvSpPr>
          <p:cNvPr id="4" name="Text Placeholder 3">
            <a:extLst>
              <a:ext uri="{FF2B5EF4-FFF2-40B4-BE49-F238E27FC236}">
                <a16:creationId xmlns:a16="http://schemas.microsoft.com/office/drawing/2014/main" id="{D2AB1EE0-F60D-EF7C-A5FB-D7D8E9A52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8F548E3-88C0-A427-68DE-3F08BAD7889A}"/>
              </a:ext>
            </a:extLst>
          </p:cNvPr>
          <p:cNvSpPr>
            <a:spLocks noGrp="1"/>
          </p:cNvSpPr>
          <p:nvPr>
            <p:ph type="dt" sz="half" idx="10"/>
          </p:nvPr>
        </p:nvSpPr>
        <p:spPr/>
        <p:txBody>
          <a:bodyPr/>
          <a:lstStyle/>
          <a:p>
            <a:fld id="{21B47DE0-1417-A946-B041-F497A0DB6BED}" type="datetimeFigureOut">
              <a:rPr lang="en-SK" smtClean="0"/>
              <a:t>12/12/2022</a:t>
            </a:fld>
            <a:endParaRPr lang="en-SK"/>
          </a:p>
        </p:txBody>
      </p:sp>
      <p:sp>
        <p:nvSpPr>
          <p:cNvPr id="6" name="Footer Placeholder 5">
            <a:extLst>
              <a:ext uri="{FF2B5EF4-FFF2-40B4-BE49-F238E27FC236}">
                <a16:creationId xmlns:a16="http://schemas.microsoft.com/office/drawing/2014/main" id="{652A3363-EC97-D11B-20DC-0F006669B4F2}"/>
              </a:ext>
            </a:extLst>
          </p:cNvPr>
          <p:cNvSpPr>
            <a:spLocks noGrp="1"/>
          </p:cNvSpPr>
          <p:nvPr>
            <p:ph type="ftr" sz="quarter" idx="11"/>
          </p:nvPr>
        </p:nvSpPr>
        <p:spPr/>
        <p:txBody>
          <a:bodyPr/>
          <a:lstStyle/>
          <a:p>
            <a:endParaRPr lang="en-SK"/>
          </a:p>
        </p:txBody>
      </p:sp>
      <p:sp>
        <p:nvSpPr>
          <p:cNvPr id="7" name="Slide Number Placeholder 6">
            <a:extLst>
              <a:ext uri="{FF2B5EF4-FFF2-40B4-BE49-F238E27FC236}">
                <a16:creationId xmlns:a16="http://schemas.microsoft.com/office/drawing/2014/main" id="{DDDC7489-5B4B-4F79-7C1B-CE142ADF18BC}"/>
              </a:ext>
            </a:extLst>
          </p:cNvPr>
          <p:cNvSpPr>
            <a:spLocks noGrp="1"/>
          </p:cNvSpPr>
          <p:nvPr>
            <p:ph type="sldNum" sz="quarter" idx="12"/>
          </p:nvPr>
        </p:nvSpPr>
        <p:spPr/>
        <p:txBody>
          <a:bodyPr/>
          <a:lstStyle/>
          <a:p>
            <a:fld id="{F442A401-92F6-4440-9B3F-F797DB4DE329}" type="slidenum">
              <a:rPr lang="en-SK" smtClean="0"/>
              <a:t>‹#›</a:t>
            </a:fld>
            <a:endParaRPr lang="en-SK"/>
          </a:p>
        </p:txBody>
      </p:sp>
    </p:spTree>
    <p:extLst>
      <p:ext uri="{BB962C8B-B14F-4D97-AF65-F5344CB8AC3E}">
        <p14:creationId xmlns:p14="http://schemas.microsoft.com/office/powerpoint/2010/main" val="352567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C5BF-BF3B-BCEC-8B52-6C2D42378ED2}"/>
              </a:ext>
            </a:extLst>
          </p:cNvPr>
          <p:cNvSpPr>
            <a:spLocks noGrp="1"/>
          </p:cNvSpPr>
          <p:nvPr>
            <p:ph type="title"/>
          </p:nvPr>
        </p:nvSpPr>
        <p:spPr/>
        <p:txBody>
          <a:bodyPr/>
          <a:lstStyle/>
          <a:p>
            <a:r>
              <a:rPr lang="en-GB"/>
              <a:t>Click to edit Master title style</a:t>
            </a:r>
            <a:endParaRPr lang="en-SK"/>
          </a:p>
        </p:txBody>
      </p:sp>
      <p:sp>
        <p:nvSpPr>
          <p:cNvPr id="3" name="Vertical Text Placeholder 2">
            <a:extLst>
              <a:ext uri="{FF2B5EF4-FFF2-40B4-BE49-F238E27FC236}">
                <a16:creationId xmlns:a16="http://schemas.microsoft.com/office/drawing/2014/main" id="{C100FC2A-F42E-6854-E910-0DDC27E5E57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K"/>
          </a:p>
        </p:txBody>
      </p:sp>
      <p:sp>
        <p:nvSpPr>
          <p:cNvPr id="4" name="Date Placeholder 3">
            <a:extLst>
              <a:ext uri="{FF2B5EF4-FFF2-40B4-BE49-F238E27FC236}">
                <a16:creationId xmlns:a16="http://schemas.microsoft.com/office/drawing/2014/main" id="{B9E250F3-DE58-7978-082F-AAA83309D01D}"/>
              </a:ext>
            </a:extLst>
          </p:cNvPr>
          <p:cNvSpPr>
            <a:spLocks noGrp="1"/>
          </p:cNvSpPr>
          <p:nvPr>
            <p:ph type="dt" sz="half" idx="10"/>
          </p:nvPr>
        </p:nvSpPr>
        <p:spPr/>
        <p:txBody>
          <a:bodyPr/>
          <a:lstStyle/>
          <a:p>
            <a:fld id="{21B47DE0-1417-A946-B041-F497A0DB6BED}" type="datetimeFigureOut">
              <a:rPr lang="en-SK" smtClean="0"/>
              <a:t>12/12/2022</a:t>
            </a:fld>
            <a:endParaRPr lang="en-SK"/>
          </a:p>
        </p:txBody>
      </p:sp>
      <p:sp>
        <p:nvSpPr>
          <p:cNvPr id="5" name="Footer Placeholder 4">
            <a:extLst>
              <a:ext uri="{FF2B5EF4-FFF2-40B4-BE49-F238E27FC236}">
                <a16:creationId xmlns:a16="http://schemas.microsoft.com/office/drawing/2014/main" id="{7753D6D7-6147-DC14-B992-0BBF5195B6B5}"/>
              </a:ext>
            </a:extLst>
          </p:cNvPr>
          <p:cNvSpPr>
            <a:spLocks noGrp="1"/>
          </p:cNvSpPr>
          <p:nvPr>
            <p:ph type="ftr" sz="quarter" idx="11"/>
          </p:nvPr>
        </p:nvSpPr>
        <p:spPr/>
        <p:txBody>
          <a:bodyPr/>
          <a:lstStyle/>
          <a:p>
            <a:endParaRPr lang="en-SK"/>
          </a:p>
        </p:txBody>
      </p:sp>
      <p:sp>
        <p:nvSpPr>
          <p:cNvPr id="6" name="Slide Number Placeholder 5">
            <a:extLst>
              <a:ext uri="{FF2B5EF4-FFF2-40B4-BE49-F238E27FC236}">
                <a16:creationId xmlns:a16="http://schemas.microsoft.com/office/drawing/2014/main" id="{8BEC3005-AE14-08DD-3553-80B588F38693}"/>
              </a:ext>
            </a:extLst>
          </p:cNvPr>
          <p:cNvSpPr>
            <a:spLocks noGrp="1"/>
          </p:cNvSpPr>
          <p:nvPr>
            <p:ph type="sldNum" sz="quarter" idx="12"/>
          </p:nvPr>
        </p:nvSpPr>
        <p:spPr/>
        <p:txBody>
          <a:bodyPr/>
          <a:lstStyle/>
          <a:p>
            <a:fld id="{F442A401-92F6-4440-9B3F-F797DB4DE329}" type="slidenum">
              <a:rPr lang="en-SK" smtClean="0"/>
              <a:t>‹#›</a:t>
            </a:fld>
            <a:endParaRPr lang="en-SK"/>
          </a:p>
        </p:txBody>
      </p:sp>
    </p:spTree>
    <p:extLst>
      <p:ext uri="{BB962C8B-B14F-4D97-AF65-F5344CB8AC3E}">
        <p14:creationId xmlns:p14="http://schemas.microsoft.com/office/powerpoint/2010/main" val="2505117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AA08C-FF60-8742-80BD-655DA146053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SK"/>
          </a:p>
        </p:txBody>
      </p:sp>
      <p:sp>
        <p:nvSpPr>
          <p:cNvPr id="3" name="Vertical Text Placeholder 2">
            <a:extLst>
              <a:ext uri="{FF2B5EF4-FFF2-40B4-BE49-F238E27FC236}">
                <a16:creationId xmlns:a16="http://schemas.microsoft.com/office/drawing/2014/main" id="{011E470D-A290-BEF0-1610-95700FE7C0A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K"/>
          </a:p>
        </p:txBody>
      </p:sp>
      <p:sp>
        <p:nvSpPr>
          <p:cNvPr id="4" name="Date Placeholder 3">
            <a:extLst>
              <a:ext uri="{FF2B5EF4-FFF2-40B4-BE49-F238E27FC236}">
                <a16:creationId xmlns:a16="http://schemas.microsoft.com/office/drawing/2014/main" id="{198139E3-6CBE-41F1-BC42-209EE7AFC013}"/>
              </a:ext>
            </a:extLst>
          </p:cNvPr>
          <p:cNvSpPr>
            <a:spLocks noGrp="1"/>
          </p:cNvSpPr>
          <p:nvPr>
            <p:ph type="dt" sz="half" idx="10"/>
          </p:nvPr>
        </p:nvSpPr>
        <p:spPr/>
        <p:txBody>
          <a:bodyPr/>
          <a:lstStyle/>
          <a:p>
            <a:fld id="{21B47DE0-1417-A946-B041-F497A0DB6BED}" type="datetimeFigureOut">
              <a:rPr lang="en-SK" smtClean="0"/>
              <a:t>12/12/2022</a:t>
            </a:fld>
            <a:endParaRPr lang="en-SK"/>
          </a:p>
        </p:txBody>
      </p:sp>
      <p:sp>
        <p:nvSpPr>
          <p:cNvPr id="5" name="Footer Placeholder 4">
            <a:extLst>
              <a:ext uri="{FF2B5EF4-FFF2-40B4-BE49-F238E27FC236}">
                <a16:creationId xmlns:a16="http://schemas.microsoft.com/office/drawing/2014/main" id="{E6ACC1D8-F988-A39A-8A7C-141E1C7F4583}"/>
              </a:ext>
            </a:extLst>
          </p:cNvPr>
          <p:cNvSpPr>
            <a:spLocks noGrp="1"/>
          </p:cNvSpPr>
          <p:nvPr>
            <p:ph type="ftr" sz="quarter" idx="11"/>
          </p:nvPr>
        </p:nvSpPr>
        <p:spPr/>
        <p:txBody>
          <a:bodyPr/>
          <a:lstStyle/>
          <a:p>
            <a:endParaRPr lang="en-SK"/>
          </a:p>
        </p:txBody>
      </p:sp>
      <p:sp>
        <p:nvSpPr>
          <p:cNvPr id="6" name="Slide Number Placeholder 5">
            <a:extLst>
              <a:ext uri="{FF2B5EF4-FFF2-40B4-BE49-F238E27FC236}">
                <a16:creationId xmlns:a16="http://schemas.microsoft.com/office/drawing/2014/main" id="{17FDB825-0D80-89B0-9E3B-528DB4918253}"/>
              </a:ext>
            </a:extLst>
          </p:cNvPr>
          <p:cNvSpPr>
            <a:spLocks noGrp="1"/>
          </p:cNvSpPr>
          <p:nvPr>
            <p:ph type="sldNum" sz="quarter" idx="12"/>
          </p:nvPr>
        </p:nvSpPr>
        <p:spPr/>
        <p:txBody>
          <a:bodyPr/>
          <a:lstStyle/>
          <a:p>
            <a:fld id="{F442A401-92F6-4440-9B3F-F797DB4DE329}" type="slidenum">
              <a:rPr lang="en-SK" smtClean="0"/>
              <a:t>‹#›</a:t>
            </a:fld>
            <a:endParaRPr lang="en-SK"/>
          </a:p>
        </p:txBody>
      </p:sp>
    </p:spTree>
    <p:extLst>
      <p:ext uri="{BB962C8B-B14F-4D97-AF65-F5344CB8AC3E}">
        <p14:creationId xmlns:p14="http://schemas.microsoft.com/office/powerpoint/2010/main" val="3214351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5C45AC-B693-383D-3026-2275B6330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K"/>
          </a:p>
        </p:txBody>
      </p:sp>
      <p:sp>
        <p:nvSpPr>
          <p:cNvPr id="3" name="Text Placeholder 2">
            <a:extLst>
              <a:ext uri="{FF2B5EF4-FFF2-40B4-BE49-F238E27FC236}">
                <a16:creationId xmlns:a16="http://schemas.microsoft.com/office/drawing/2014/main" id="{B0298C21-D10D-9DC0-C755-E71BFC005C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K"/>
          </a:p>
        </p:txBody>
      </p:sp>
      <p:sp>
        <p:nvSpPr>
          <p:cNvPr id="4" name="Date Placeholder 3">
            <a:extLst>
              <a:ext uri="{FF2B5EF4-FFF2-40B4-BE49-F238E27FC236}">
                <a16:creationId xmlns:a16="http://schemas.microsoft.com/office/drawing/2014/main" id="{37F9BECA-5006-09D0-2184-9198D91092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B47DE0-1417-A946-B041-F497A0DB6BED}" type="datetimeFigureOut">
              <a:rPr lang="en-SK" smtClean="0"/>
              <a:t>12/12/2022</a:t>
            </a:fld>
            <a:endParaRPr lang="en-SK"/>
          </a:p>
        </p:txBody>
      </p:sp>
      <p:sp>
        <p:nvSpPr>
          <p:cNvPr id="5" name="Footer Placeholder 4">
            <a:extLst>
              <a:ext uri="{FF2B5EF4-FFF2-40B4-BE49-F238E27FC236}">
                <a16:creationId xmlns:a16="http://schemas.microsoft.com/office/drawing/2014/main" id="{EBEE21DD-011B-BC16-265D-E3EA8BD3E3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K"/>
          </a:p>
        </p:txBody>
      </p:sp>
      <p:sp>
        <p:nvSpPr>
          <p:cNvPr id="6" name="Slide Number Placeholder 5">
            <a:extLst>
              <a:ext uri="{FF2B5EF4-FFF2-40B4-BE49-F238E27FC236}">
                <a16:creationId xmlns:a16="http://schemas.microsoft.com/office/drawing/2014/main" id="{14933E30-2D90-DDCA-4BD0-8B90D28D75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3ECA09-1469-A44B-85A6-BF259541CC52}" type="slidenum">
              <a:rPr lang="en-SK" smtClean="0"/>
              <a:t>‹#›</a:t>
            </a:fld>
            <a:endParaRPr lang="en-SK"/>
          </a:p>
        </p:txBody>
      </p:sp>
      <p:pic>
        <p:nvPicPr>
          <p:cNvPr id="7" name="Picture 4">
            <a:extLst>
              <a:ext uri="{FF2B5EF4-FFF2-40B4-BE49-F238E27FC236}">
                <a16:creationId xmlns:a16="http://schemas.microsoft.com/office/drawing/2014/main" id="{E2F335CC-A745-1CE3-A20C-5BA65AD3123C}"/>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9421742" y="6092051"/>
            <a:ext cx="1845743" cy="629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6886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28">
            <a:extLst>
              <a:ext uri="{FF2B5EF4-FFF2-40B4-BE49-F238E27FC236}">
                <a16:creationId xmlns:a16="http://schemas.microsoft.com/office/drawing/2014/main" id="{7D9D36D6-2AC5-46A1-A849-4C82D5264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CAD4A26-A121-9749-5AC6-E55B155A85EA}"/>
              </a:ext>
            </a:extLst>
          </p:cNvPr>
          <p:cNvSpPr>
            <a:spLocks noGrp="1"/>
          </p:cNvSpPr>
          <p:nvPr>
            <p:ph type="ctrTitle"/>
          </p:nvPr>
        </p:nvSpPr>
        <p:spPr>
          <a:xfrm>
            <a:off x="5354955" y="552182"/>
            <a:ext cx="5998840" cy="3343135"/>
          </a:xfrm>
          <a:noFill/>
        </p:spPr>
        <p:txBody>
          <a:bodyPr>
            <a:normAutofit/>
          </a:bodyPr>
          <a:lstStyle/>
          <a:p>
            <a:pPr algn="l"/>
            <a:r>
              <a:rPr lang="en-SK" sz="5200"/>
              <a:t>Pricing Options</a:t>
            </a:r>
            <a:r>
              <a:rPr lang="en-US" sz="5200"/>
              <a:t> U</a:t>
            </a:r>
            <a:r>
              <a:rPr lang="en-SK" sz="5200"/>
              <a:t>sing </a:t>
            </a:r>
            <a:br>
              <a:rPr lang="en-US" sz="5200"/>
            </a:br>
            <a:r>
              <a:rPr lang="en-SK" sz="5200"/>
              <a:t>Neural Networks </a:t>
            </a:r>
          </a:p>
        </p:txBody>
      </p:sp>
      <p:sp>
        <p:nvSpPr>
          <p:cNvPr id="3" name="Subtitle 2">
            <a:extLst>
              <a:ext uri="{FF2B5EF4-FFF2-40B4-BE49-F238E27FC236}">
                <a16:creationId xmlns:a16="http://schemas.microsoft.com/office/drawing/2014/main" id="{A59D58B5-F450-B7BF-89DA-5E57CB285A2E}"/>
              </a:ext>
            </a:extLst>
          </p:cNvPr>
          <p:cNvSpPr>
            <a:spLocks noGrp="1"/>
          </p:cNvSpPr>
          <p:nvPr>
            <p:ph type="subTitle" idx="1"/>
          </p:nvPr>
        </p:nvSpPr>
        <p:spPr>
          <a:xfrm>
            <a:off x="5354955" y="4067032"/>
            <a:ext cx="5998840" cy="2067068"/>
          </a:xfrm>
          <a:noFill/>
        </p:spPr>
        <p:txBody>
          <a:bodyPr>
            <a:normAutofit/>
          </a:bodyPr>
          <a:lstStyle/>
          <a:p>
            <a:pPr algn="l"/>
            <a:r>
              <a:rPr lang="en-SK" dirty="0"/>
              <a:t>Patrik K.    Dmitry T.</a:t>
            </a:r>
          </a:p>
        </p:txBody>
      </p:sp>
      <p:pic>
        <p:nvPicPr>
          <p:cNvPr id="20" name="Picture 19" descr="Human brain nerve cells">
            <a:extLst>
              <a:ext uri="{FF2B5EF4-FFF2-40B4-BE49-F238E27FC236}">
                <a16:creationId xmlns:a16="http://schemas.microsoft.com/office/drawing/2014/main" id="{9E2FB71B-D79A-BC7E-77A7-579716CE39D5}"/>
              </a:ext>
            </a:extLst>
          </p:cNvPr>
          <p:cNvPicPr>
            <a:picLocks noChangeAspect="1"/>
          </p:cNvPicPr>
          <p:nvPr/>
        </p:nvPicPr>
        <p:blipFill rotWithShape="1">
          <a:blip r:embed="rId3"/>
          <a:srcRect l="12056" r="33340"/>
          <a:stretch/>
        </p:blipFill>
        <p:spPr>
          <a:xfrm>
            <a:off x="20" y="10"/>
            <a:ext cx="4992985" cy="6857990"/>
          </a:xfrm>
          <a:prstGeom prst="rect">
            <a:avLst/>
          </a:prstGeom>
        </p:spPr>
      </p:pic>
    </p:spTree>
    <p:extLst>
      <p:ext uri="{BB962C8B-B14F-4D97-AF65-F5344CB8AC3E}">
        <p14:creationId xmlns:p14="http://schemas.microsoft.com/office/powerpoint/2010/main" val="773864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14C56-6834-6896-8DDA-9A1BAB97F2C3}"/>
              </a:ext>
            </a:extLst>
          </p:cNvPr>
          <p:cNvSpPr>
            <a:spLocks noGrp="1"/>
          </p:cNvSpPr>
          <p:nvPr>
            <p:ph type="title"/>
          </p:nvPr>
        </p:nvSpPr>
        <p:spPr/>
        <p:txBody>
          <a:bodyPr/>
          <a:lstStyle/>
          <a:p>
            <a:r>
              <a:rPr lang="en-SK"/>
              <a:t>The Team</a:t>
            </a:r>
            <a:endParaRPr lang="en-SK" dirty="0"/>
          </a:p>
        </p:txBody>
      </p:sp>
      <p:pic>
        <p:nvPicPr>
          <p:cNvPr id="9" name="Picture 8" descr="A person standing next to a tree&#10;&#10;Description automatically generated">
            <a:extLst>
              <a:ext uri="{FF2B5EF4-FFF2-40B4-BE49-F238E27FC236}">
                <a16:creationId xmlns:a16="http://schemas.microsoft.com/office/drawing/2014/main" id="{E2E8CCE0-0140-209B-B27E-1C0ADE20170B}"/>
              </a:ext>
            </a:extLst>
          </p:cNvPr>
          <p:cNvPicPr>
            <a:picLocks noChangeAspect="1"/>
          </p:cNvPicPr>
          <p:nvPr/>
        </p:nvPicPr>
        <p:blipFill>
          <a:blip r:embed="rId3"/>
          <a:stretch>
            <a:fillRect/>
          </a:stretch>
        </p:blipFill>
        <p:spPr>
          <a:xfrm>
            <a:off x="2963068" y="2060719"/>
            <a:ext cx="2074863" cy="2074863"/>
          </a:xfrm>
          <a:prstGeom prst="rect">
            <a:avLst/>
          </a:prstGeom>
        </p:spPr>
      </p:pic>
      <p:pic>
        <p:nvPicPr>
          <p:cNvPr id="11" name="Picture 10" descr="A picture containing person, necktie, person, wall&#10;&#10;Description automatically generated">
            <a:extLst>
              <a:ext uri="{FF2B5EF4-FFF2-40B4-BE49-F238E27FC236}">
                <a16:creationId xmlns:a16="http://schemas.microsoft.com/office/drawing/2014/main" id="{F4D6ABEB-DB28-243C-B442-8CE6DD7A3333}"/>
              </a:ext>
            </a:extLst>
          </p:cNvPr>
          <p:cNvPicPr>
            <a:picLocks noChangeAspect="1"/>
          </p:cNvPicPr>
          <p:nvPr/>
        </p:nvPicPr>
        <p:blipFill>
          <a:blip r:embed="rId4"/>
          <a:stretch>
            <a:fillRect/>
          </a:stretch>
        </p:blipFill>
        <p:spPr>
          <a:xfrm>
            <a:off x="7297737" y="2060719"/>
            <a:ext cx="2074863" cy="2074863"/>
          </a:xfrm>
          <a:prstGeom prst="rect">
            <a:avLst/>
          </a:prstGeom>
        </p:spPr>
      </p:pic>
      <p:sp>
        <p:nvSpPr>
          <p:cNvPr id="13" name="TextBox 12">
            <a:extLst>
              <a:ext uri="{FF2B5EF4-FFF2-40B4-BE49-F238E27FC236}">
                <a16:creationId xmlns:a16="http://schemas.microsoft.com/office/drawing/2014/main" id="{AB6E3D87-FBBC-D3DF-EDFD-0F77E041A44B}"/>
              </a:ext>
            </a:extLst>
          </p:cNvPr>
          <p:cNvSpPr txBox="1"/>
          <p:nvPr/>
        </p:nvSpPr>
        <p:spPr>
          <a:xfrm>
            <a:off x="2963068" y="4462407"/>
            <a:ext cx="1846262" cy="830997"/>
          </a:xfrm>
          <a:prstGeom prst="rect">
            <a:avLst/>
          </a:prstGeom>
          <a:noFill/>
        </p:spPr>
        <p:txBody>
          <a:bodyPr wrap="square" rtlCol="0">
            <a:spAutoFit/>
          </a:bodyPr>
          <a:lstStyle/>
          <a:p>
            <a:pPr marL="171450" indent="-171450">
              <a:buFont typeface="Arial" panose="020B0604020202020204" pitchFamily="34" charset="0"/>
              <a:buChar char="•"/>
            </a:pPr>
            <a:r>
              <a:rPr lang="en-GB" sz="1600" b="0" i="0" dirty="0">
                <a:effectLst/>
                <a:latin typeface="-apple-system"/>
              </a:rPr>
              <a:t>B.S. Double Major Mathematics &amp; Econometrics</a:t>
            </a:r>
            <a:endParaRPr lang="en-SK" sz="1600" dirty="0"/>
          </a:p>
        </p:txBody>
      </p:sp>
      <p:sp>
        <p:nvSpPr>
          <p:cNvPr id="14" name="TextBox 13">
            <a:extLst>
              <a:ext uri="{FF2B5EF4-FFF2-40B4-BE49-F238E27FC236}">
                <a16:creationId xmlns:a16="http://schemas.microsoft.com/office/drawing/2014/main" id="{5E2E5988-0B03-070C-5903-178C77AC0A50}"/>
              </a:ext>
            </a:extLst>
          </p:cNvPr>
          <p:cNvSpPr txBox="1"/>
          <p:nvPr/>
        </p:nvSpPr>
        <p:spPr>
          <a:xfrm>
            <a:off x="7412037" y="4445145"/>
            <a:ext cx="1846262" cy="1077218"/>
          </a:xfrm>
          <a:prstGeom prst="rect">
            <a:avLst/>
          </a:prstGeom>
          <a:noFill/>
        </p:spPr>
        <p:txBody>
          <a:bodyPr wrap="square" rtlCol="0">
            <a:spAutoFit/>
          </a:bodyPr>
          <a:lstStyle/>
          <a:p>
            <a:pPr marL="171450" indent="-171450">
              <a:buFont typeface="Arial" panose="020B0604020202020204" pitchFamily="34" charset="0"/>
              <a:buChar char="•"/>
            </a:pPr>
            <a:r>
              <a:rPr lang="en-SK" sz="1600" dirty="0"/>
              <a:t>B.Sc.  Economics</a:t>
            </a:r>
          </a:p>
          <a:p>
            <a:pPr marL="171450" indent="-171450">
              <a:buFont typeface="Arial" panose="020B0604020202020204" pitchFamily="34" charset="0"/>
              <a:buChar char="•"/>
            </a:pPr>
            <a:r>
              <a:rPr lang="en-SK" sz="1600" dirty="0"/>
              <a:t>Machine Learning Consultant @ PWC</a:t>
            </a:r>
          </a:p>
        </p:txBody>
      </p:sp>
    </p:spTree>
    <p:extLst>
      <p:ext uri="{BB962C8B-B14F-4D97-AF65-F5344CB8AC3E}">
        <p14:creationId xmlns:p14="http://schemas.microsoft.com/office/powerpoint/2010/main" val="196413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E865E-BC47-EBCD-11F1-1E6498CC2334}"/>
              </a:ext>
            </a:extLst>
          </p:cNvPr>
          <p:cNvSpPr>
            <a:spLocks noGrp="1"/>
          </p:cNvSpPr>
          <p:nvPr>
            <p:ph type="title"/>
          </p:nvPr>
        </p:nvSpPr>
        <p:spPr/>
        <p:txBody>
          <a:bodyPr/>
          <a:lstStyle/>
          <a:p>
            <a:r>
              <a:rPr lang="en-SK" dirty="0"/>
              <a:t>Outcomes</a:t>
            </a:r>
          </a:p>
        </p:txBody>
      </p:sp>
      <p:sp>
        <p:nvSpPr>
          <p:cNvPr id="3" name="Content Placeholder 2">
            <a:extLst>
              <a:ext uri="{FF2B5EF4-FFF2-40B4-BE49-F238E27FC236}">
                <a16:creationId xmlns:a16="http://schemas.microsoft.com/office/drawing/2014/main" id="{12B6534B-D5FF-357E-1FA6-CCE781E46708}"/>
              </a:ext>
            </a:extLst>
          </p:cNvPr>
          <p:cNvSpPr>
            <a:spLocks noGrp="1"/>
          </p:cNvSpPr>
          <p:nvPr>
            <p:ph idx="1"/>
          </p:nvPr>
        </p:nvSpPr>
        <p:spPr/>
        <p:txBody>
          <a:bodyPr>
            <a:normAutofit fontScale="92500" lnSpcReduction="20000"/>
          </a:bodyPr>
          <a:lstStyle/>
          <a:p>
            <a:pPr marL="0" indent="0">
              <a:buNone/>
            </a:pPr>
            <a:r>
              <a:rPr lang="en-SK" dirty="0"/>
              <a:t>A HARQ-ANN</a:t>
            </a:r>
            <a:r>
              <a:rPr lang="en-GB" sz="1800" baseline="-25000" dirty="0"/>
              <a:t>1</a:t>
            </a:r>
            <a:r>
              <a:rPr lang="en-GB" dirty="0"/>
              <a:t> for </a:t>
            </a:r>
            <a:r>
              <a:rPr lang="en-SK" dirty="0"/>
              <a:t>Option Pricing</a:t>
            </a:r>
          </a:p>
          <a:p>
            <a:pPr marL="0" indent="0">
              <a:buNone/>
            </a:pPr>
            <a:endParaRPr lang="en-SK" dirty="0"/>
          </a:p>
          <a:p>
            <a:pPr lvl="1"/>
            <a:r>
              <a:rPr lang="en-SK" dirty="0"/>
              <a:t>Aim: </a:t>
            </a:r>
          </a:p>
          <a:p>
            <a:pPr lvl="2"/>
            <a:r>
              <a:rPr lang="en-SK" dirty="0"/>
              <a:t>A model optimized to price options significantly better than the Black Scholes model (using Historical Realized Volatility and Rough Volatility) across all moneyness levels</a:t>
            </a:r>
          </a:p>
          <a:p>
            <a:pPr lvl="2"/>
            <a:endParaRPr lang="en-SK" dirty="0"/>
          </a:p>
          <a:p>
            <a:pPr lvl="1"/>
            <a:r>
              <a:rPr lang="en-SK" dirty="0"/>
              <a:t>Why:</a:t>
            </a:r>
            <a:endParaRPr lang="en-GB" dirty="0"/>
          </a:p>
          <a:p>
            <a:pPr lvl="2"/>
            <a:r>
              <a:rPr lang="en-GB" dirty="0"/>
              <a:t>Fundamental Problem 1: Volatility Skew is a fundamental violation of Black Scholes</a:t>
            </a:r>
          </a:p>
          <a:p>
            <a:pPr lvl="2"/>
            <a:r>
              <a:rPr lang="en-GB" dirty="0"/>
              <a:t>Fundamental Problem 2: Utilizing the tools of machine learning to avoid overfitting</a:t>
            </a:r>
          </a:p>
          <a:p>
            <a:pPr lvl="2"/>
            <a:r>
              <a:rPr lang="en-GB" dirty="0"/>
              <a:t>Fundamental Problem 3: Speed of calculation </a:t>
            </a:r>
          </a:p>
          <a:p>
            <a:pPr marL="914400" lvl="2" indent="0">
              <a:buNone/>
            </a:pPr>
            <a:endParaRPr lang="en-GB" dirty="0"/>
          </a:p>
          <a:p>
            <a:pPr lvl="1"/>
            <a:r>
              <a:rPr lang="en-GB" dirty="0">
                <a:latin typeface="Spectral"/>
              </a:rPr>
              <a:t>Uses:</a:t>
            </a:r>
          </a:p>
          <a:p>
            <a:pPr lvl="2"/>
            <a:r>
              <a:rPr lang="en-GB" b="0" i="0" dirty="0">
                <a:effectLst/>
                <a:latin typeface="Spectral"/>
              </a:rPr>
              <a:t>Efficient Hedging</a:t>
            </a:r>
          </a:p>
          <a:p>
            <a:pPr lvl="2"/>
            <a:r>
              <a:rPr lang="en-GB" dirty="0">
                <a:latin typeface="Spectral"/>
              </a:rPr>
              <a:t>Arbitrage Opportunities </a:t>
            </a:r>
          </a:p>
          <a:p>
            <a:pPr marL="914400" lvl="2" indent="0">
              <a:buNone/>
            </a:pPr>
            <a:endParaRPr lang="en-GB" dirty="0">
              <a:solidFill>
                <a:srgbClr val="404040"/>
              </a:solidFill>
              <a:latin typeface="Spectral"/>
            </a:endParaRPr>
          </a:p>
          <a:p>
            <a:pPr marL="914400" lvl="2" indent="0">
              <a:buNone/>
            </a:pPr>
            <a:endParaRPr lang="en-SK" dirty="0"/>
          </a:p>
        </p:txBody>
      </p:sp>
      <p:sp>
        <p:nvSpPr>
          <p:cNvPr id="4" name="TextBox 3">
            <a:extLst>
              <a:ext uri="{FF2B5EF4-FFF2-40B4-BE49-F238E27FC236}">
                <a16:creationId xmlns:a16="http://schemas.microsoft.com/office/drawing/2014/main" id="{D689660B-A8DB-34B6-7817-F5E622556243}"/>
              </a:ext>
            </a:extLst>
          </p:cNvPr>
          <p:cNvSpPr txBox="1"/>
          <p:nvPr/>
        </p:nvSpPr>
        <p:spPr>
          <a:xfrm>
            <a:off x="838200" y="6181095"/>
            <a:ext cx="5830784" cy="261610"/>
          </a:xfrm>
          <a:prstGeom prst="rect">
            <a:avLst/>
          </a:prstGeom>
          <a:noFill/>
        </p:spPr>
        <p:txBody>
          <a:bodyPr wrap="square" rtlCol="0">
            <a:spAutoFit/>
          </a:bodyPr>
          <a:lstStyle/>
          <a:p>
            <a:r>
              <a:rPr lang="en-SK" sz="1100" dirty="0"/>
              <a:t>1. </a:t>
            </a:r>
            <a:r>
              <a:rPr lang="en-GB" sz="1100" dirty="0"/>
              <a:t>Heterogeneous Autoregressive Artificial Neural Network</a:t>
            </a:r>
            <a:endParaRPr lang="en-SK" sz="1100" dirty="0"/>
          </a:p>
        </p:txBody>
      </p:sp>
    </p:spTree>
    <p:extLst>
      <p:ext uri="{BB962C8B-B14F-4D97-AF65-F5344CB8AC3E}">
        <p14:creationId xmlns:p14="http://schemas.microsoft.com/office/powerpoint/2010/main" val="333310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C0688-076B-C98A-C0E3-D8ED8AE5E34D}"/>
              </a:ext>
            </a:extLst>
          </p:cNvPr>
          <p:cNvSpPr>
            <a:spLocks noGrp="1"/>
          </p:cNvSpPr>
          <p:nvPr>
            <p:ph type="title"/>
          </p:nvPr>
        </p:nvSpPr>
        <p:spPr/>
        <p:txBody>
          <a:bodyPr/>
          <a:lstStyle/>
          <a:p>
            <a:r>
              <a:rPr lang="en-US" dirty="0"/>
              <a:t>Model Selection</a:t>
            </a:r>
            <a:endParaRPr lang="en-SK" dirty="0"/>
          </a:p>
        </p:txBody>
      </p:sp>
      <p:sp>
        <p:nvSpPr>
          <p:cNvPr id="3" name="Content Placeholder 2">
            <a:extLst>
              <a:ext uri="{FF2B5EF4-FFF2-40B4-BE49-F238E27FC236}">
                <a16:creationId xmlns:a16="http://schemas.microsoft.com/office/drawing/2014/main" id="{14B27BCA-5A1E-FF78-4EE9-387FCFD16C73}"/>
              </a:ext>
            </a:extLst>
          </p:cNvPr>
          <p:cNvSpPr>
            <a:spLocks noGrp="1"/>
          </p:cNvSpPr>
          <p:nvPr>
            <p:ph idx="1"/>
          </p:nvPr>
        </p:nvSpPr>
        <p:spPr/>
        <p:txBody>
          <a:bodyPr/>
          <a:lstStyle/>
          <a:p>
            <a:pPr marL="0" indent="0">
              <a:buNone/>
            </a:pPr>
            <a:r>
              <a:rPr lang="en-SK" sz="2600" dirty="0"/>
              <a:t>Artificial Neural Networks</a:t>
            </a:r>
          </a:p>
          <a:p>
            <a:pPr marL="0" indent="0">
              <a:buNone/>
            </a:pPr>
            <a:endParaRPr lang="en-US" sz="2400" dirty="0"/>
          </a:p>
          <a:p>
            <a:pPr lvl="1"/>
            <a:r>
              <a:rPr lang="en-SK" sz="2200" dirty="0"/>
              <a:t>Model: </a:t>
            </a:r>
          </a:p>
          <a:p>
            <a:pPr lvl="2"/>
            <a:r>
              <a:rPr lang="en-SK" sz="1900" dirty="0"/>
              <a:t>Multilevel Perceptotron</a:t>
            </a:r>
            <a:r>
              <a:rPr lang="en-US" sz="1900" dirty="0"/>
              <a:t> </a:t>
            </a:r>
          </a:p>
          <a:p>
            <a:pPr lvl="3"/>
            <a:r>
              <a:rPr lang="en-US" sz="1900" dirty="0"/>
              <a:t>Requires Stationary Features</a:t>
            </a:r>
          </a:p>
          <a:p>
            <a:pPr lvl="3"/>
            <a:r>
              <a:rPr lang="en-US" sz="1900" dirty="0"/>
              <a:t>Compute Volatility using HARQ</a:t>
            </a:r>
          </a:p>
          <a:p>
            <a:pPr marL="1371600" lvl="3" indent="0">
              <a:buNone/>
            </a:pPr>
            <a:endParaRPr lang="en-US" sz="1900" dirty="0"/>
          </a:p>
          <a:p>
            <a:pPr lvl="1"/>
            <a:r>
              <a:rPr lang="en-US" sz="2200" dirty="0"/>
              <a:t>Model Alternatives:</a:t>
            </a:r>
          </a:p>
          <a:p>
            <a:pPr lvl="2"/>
            <a:r>
              <a:rPr lang="en-US" sz="1900" dirty="0"/>
              <a:t>Recurrent Neural Network/ Long Short Term Memory </a:t>
            </a:r>
          </a:p>
          <a:p>
            <a:pPr lvl="1"/>
            <a:endParaRPr lang="en-US" sz="1900" dirty="0">
              <a:solidFill>
                <a:srgbClr val="FF0000"/>
              </a:solidFill>
            </a:endParaRPr>
          </a:p>
          <a:p>
            <a:pPr marL="457200" lvl="1" indent="0">
              <a:buNone/>
            </a:pPr>
            <a:endParaRPr lang="en-US" dirty="0"/>
          </a:p>
          <a:p>
            <a:endParaRPr lang="en-SK" dirty="0"/>
          </a:p>
          <a:p>
            <a:pPr marL="0" indent="0">
              <a:buNone/>
            </a:pPr>
            <a:endParaRPr lang="en-SK" dirty="0"/>
          </a:p>
        </p:txBody>
      </p:sp>
    </p:spTree>
    <p:extLst>
      <p:ext uri="{BB962C8B-B14F-4D97-AF65-F5344CB8AC3E}">
        <p14:creationId xmlns:p14="http://schemas.microsoft.com/office/powerpoint/2010/main" val="3253688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1462B-3C87-CA71-FB4E-9192BDDAC20C}"/>
              </a:ext>
            </a:extLst>
          </p:cNvPr>
          <p:cNvSpPr>
            <a:spLocks noGrp="1"/>
          </p:cNvSpPr>
          <p:nvPr>
            <p:ph type="title"/>
          </p:nvPr>
        </p:nvSpPr>
        <p:spPr/>
        <p:txBody>
          <a:bodyPr/>
          <a:lstStyle/>
          <a:p>
            <a:r>
              <a:rPr lang="en-US" dirty="0"/>
              <a:t>Model Specifics </a:t>
            </a:r>
            <a:endParaRPr lang="en-SK" dirty="0"/>
          </a:p>
        </p:txBody>
      </p:sp>
      <p:sp>
        <p:nvSpPr>
          <p:cNvPr id="3" name="Content Placeholder 2">
            <a:extLst>
              <a:ext uri="{FF2B5EF4-FFF2-40B4-BE49-F238E27FC236}">
                <a16:creationId xmlns:a16="http://schemas.microsoft.com/office/drawing/2014/main" id="{61C0B616-B6A7-6E26-29CD-4B833BB029FA}"/>
              </a:ext>
            </a:extLst>
          </p:cNvPr>
          <p:cNvSpPr>
            <a:spLocks noGrp="1"/>
          </p:cNvSpPr>
          <p:nvPr>
            <p:ph sz="half" idx="1"/>
          </p:nvPr>
        </p:nvSpPr>
        <p:spPr/>
        <p:txBody>
          <a:bodyPr>
            <a:normAutofit/>
          </a:bodyPr>
          <a:lstStyle/>
          <a:p>
            <a:pPr marL="0" indent="0">
              <a:buNone/>
            </a:pPr>
            <a:r>
              <a:rPr lang="en-SK" sz="2600" dirty="0"/>
              <a:t>Attributes of our Model</a:t>
            </a:r>
          </a:p>
          <a:p>
            <a:pPr marL="0" indent="0">
              <a:buNone/>
            </a:pPr>
            <a:endParaRPr lang="en-SK" sz="2400" dirty="0"/>
          </a:p>
          <a:p>
            <a:pPr lvl="1"/>
            <a:r>
              <a:rPr lang="en-SK" sz="2200" dirty="0"/>
              <a:t>Feature Vector Explanation Examples:</a:t>
            </a:r>
            <a:endParaRPr lang="en-US" sz="2200" dirty="0"/>
          </a:p>
          <a:p>
            <a:pPr lvl="2"/>
            <a:r>
              <a:rPr lang="en-SK" sz="1900" dirty="0"/>
              <a:t>HARQ generated Predicted Realized Volatility </a:t>
            </a:r>
          </a:p>
          <a:p>
            <a:pPr lvl="2"/>
            <a:r>
              <a:rPr lang="en-US" sz="1900" dirty="0"/>
              <a:t>Moneyness vs. </a:t>
            </a:r>
            <a:r>
              <a:rPr lang="en-US" sz="1900" i="1" dirty="0"/>
              <a:t>Price &amp; Strike</a:t>
            </a:r>
          </a:p>
          <a:p>
            <a:pPr marL="914400" lvl="2" indent="0">
              <a:buNone/>
            </a:pPr>
            <a:endParaRPr lang="en-US" sz="1900" dirty="0"/>
          </a:p>
          <a:p>
            <a:pPr lvl="1"/>
            <a:r>
              <a:rPr lang="en-US" sz="2200" dirty="0"/>
              <a:t>Performance Measures/Loss Function:</a:t>
            </a:r>
          </a:p>
          <a:p>
            <a:pPr lvl="2"/>
            <a:r>
              <a:rPr lang="en-US" sz="1900" dirty="0"/>
              <a:t>Mean Squared Error</a:t>
            </a:r>
          </a:p>
          <a:p>
            <a:pPr marL="457200" lvl="1" indent="0">
              <a:buNone/>
            </a:pPr>
            <a:endParaRPr lang="en-SK" sz="2000" dirty="0"/>
          </a:p>
          <a:p>
            <a:endParaRPr lang="en-SK" dirty="0"/>
          </a:p>
        </p:txBody>
      </p:sp>
      <p:sp>
        <p:nvSpPr>
          <p:cNvPr id="4" name="Content Placeholder 3">
            <a:extLst>
              <a:ext uri="{FF2B5EF4-FFF2-40B4-BE49-F238E27FC236}">
                <a16:creationId xmlns:a16="http://schemas.microsoft.com/office/drawing/2014/main" id="{3E56F84D-3B62-7BBA-BF16-95D1D0E2E3EF}"/>
              </a:ext>
            </a:extLst>
          </p:cNvPr>
          <p:cNvSpPr>
            <a:spLocks noGrp="1"/>
          </p:cNvSpPr>
          <p:nvPr>
            <p:ph sz="half" idx="2"/>
          </p:nvPr>
        </p:nvSpPr>
        <p:spPr>
          <a:xfrm>
            <a:off x="6172200" y="2676698"/>
            <a:ext cx="5181600" cy="4351338"/>
          </a:xfrm>
        </p:spPr>
        <p:txBody>
          <a:bodyPr>
            <a:normAutofit/>
          </a:bodyPr>
          <a:lstStyle/>
          <a:p>
            <a:pPr lvl="1"/>
            <a:r>
              <a:rPr lang="en-US" sz="2200" dirty="0"/>
              <a:t>Benchmark:</a:t>
            </a:r>
          </a:p>
          <a:p>
            <a:pPr lvl="2"/>
            <a:r>
              <a:rPr lang="en-US" sz="1900" dirty="0"/>
              <a:t>Black Scholes with mean 20-day Historical Volatility</a:t>
            </a:r>
          </a:p>
          <a:p>
            <a:pPr marL="914400" lvl="2" indent="0">
              <a:buNone/>
            </a:pPr>
            <a:endParaRPr lang="en-US" sz="1900" dirty="0"/>
          </a:p>
          <a:p>
            <a:pPr lvl="1"/>
            <a:r>
              <a:rPr lang="en-US" sz="2200" dirty="0"/>
              <a:t>Data Partitioning:</a:t>
            </a:r>
          </a:p>
          <a:p>
            <a:pPr lvl="2"/>
            <a:r>
              <a:rPr lang="en-US" sz="1900" dirty="0"/>
              <a:t>Chronological Partitioning</a:t>
            </a:r>
          </a:p>
          <a:p>
            <a:pPr marL="914400" lvl="2" indent="0">
              <a:buNone/>
            </a:pPr>
            <a:endParaRPr lang="en-US" sz="1900" dirty="0"/>
          </a:p>
          <a:p>
            <a:pPr lvl="1"/>
            <a:r>
              <a:rPr lang="en-US" sz="2200" dirty="0"/>
              <a:t>Hyper-parameters:</a:t>
            </a:r>
          </a:p>
          <a:p>
            <a:pPr lvl="2"/>
            <a:r>
              <a:rPr lang="en-US" sz="1600" dirty="0"/>
              <a:t>TBD</a:t>
            </a:r>
            <a:endParaRPr lang="en-SK" sz="1600" dirty="0"/>
          </a:p>
          <a:p>
            <a:endParaRPr lang="en-SK" dirty="0"/>
          </a:p>
        </p:txBody>
      </p:sp>
    </p:spTree>
    <p:extLst>
      <p:ext uri="{BB962C8B-B14F-4D97-AF65-F5344CB8AC3E}">
        <p14:creationId xmlns:p14="http://schemas.microsoft.com/office/powerpoint/2010/main" val="1938211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evealed: Refinitiv logo - THE BARON">
            <a:extLst>
              <a:ext uri="{FF2B5EF4-FFF2-40B4-BE49-F238E27FC236}">
                <a16:creationId xmlns:a16="http://schemas.microsoft.com/office/drawing/2014/main" id="{2E9E3EC0-595A-C0B6-96F2-038D0C4419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6028229"/>
            <a:ext cx="1704813" cy="82977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3E91B5F-1000-84FA-69C2-7D40939ECED7}"/>
              </a:ext>
            </a:extLst>
          </p:cNvPr>
          <p:cNvPicPr>
            <a:picLocks noChangeAspect="1"/>
          </p:cNvPicPr>
          <p:nvPr/>
        </p:nvPicPr>
        <p:blipFill>
          <a:blip r:embed="rId4"/>
          <a:stretch>
            <a:fillRect/>
          </a:stretch>
        </p:blipFill>
        <p:spPr>
          <a:xfrm>
            <a:off x="1090210" y="2064700"/>
            <a:ext cx="6475992" cy="2120822"/>
          </a:xfrm>
          <a:prstGeom prst="rect">
            <a:avLst/>
          </a:prstGeom>
        </p:spPr>
      </p:pic>
      <p:pic>
        <p:nvPicPr>
          <p:cNvPr id="9" name="Picture 8">
            <a:extLst>
              <a:ext uri="{FF2B5EF4-FFF2-40B4-BE49-F238E27FC236}">
                <a16:creationId xmlns:a16="http://schemas.microsoft.com/office/drawing/2014/main" id="{CAB5D27A-B2BB-BDD7-5482-D57D1ABB267A}"/>
              </a:ext>
            </a:extLst>
          </p:cNvPr>
          <p:cNvPicPr>
            <a:picLocks noChangeAspect="1"/>
          </p:cNvPicPr>
          <p:nvPr/>
        </p:nvPicPr>
        <p:blipFill>
          <a:blip r:embed="rId5"/>
          <a:stretch>
            <a:fillRect/>
          </a:stretch>
        </p:blipFill>
        <p:spPr>
          <a:xfrm>
            <a:off x="1090210" y="4629342"/>
            <a:ext cx="8713159" cy="1415079"/>
          </a:xfrm>
          <a:prstGeom prst="rect">
            <a:avLst/>
          </a:prstGeom>
        </p:spPr>
      </p:pic>
      <p:sp>
        <p:nvSpPr>
          <p:cNvPr id="10" name="TextBox 9">
            <a:extLst>
              <a:ext uri="{FF2B5EF4-FFF2-40B4-BE49-F238E27FC236}">
                <a16:creationId xmlns:a16="http://schemas.microsoft.com/office/drawing/2014/main" id="{5C67C838-3FF4-21E3-D369-78D4AE6C16A3}"/>
              </a:ext>
            </a:extLst>
          </p:cNvPr>
          <p:cNvSpPr txBox="1"/>
          <p:nvPr/>
        </p:nvSpPr>
        <p:spPr>
          <a:xfrm>
            <a:off x="990600" y="1638612"/>
            <a:ext cx="6377354" cy="384721"/>
          </a:xfrm>
          <a:prstGeom prst="rect">
            <a:avLst/>
          </a:prstGeom>
          <a:noFill/>
        </p:spPr>
        <p:txBody>
          <a:bodyPr wrap="square" rtlCol="0">
            <a:spAutoFit/>
          </a:bodyPr>
          <a:lstStyle/>
          <a:p>
            <a:r>
              <a:rPr lang="en-RU" sz="1900" dirty="0"/>
              <a:t>SPY Price History</a:t>
            </a:r>
          </a:p>
        </p:txBody>
      </p:sp>
      <p:sp>
        <p:nvSpPr>
          <p:cNvPr id="11" name="TextBox 10">
            <a:extLst>
              <a:ext uri="{FF2B5EF4-FFF2-40B4-BE49-F238E27FC236}">
                <a16:creationId xmlns:a16="http://schemas.microsoft.com/office/drawing/2014/main" id="{3E36E51B-32E4-CEE6-683F-80A66B527660}"/>
              </a:ext>
            </a:extLst>
          </p:cNvPr>
          <p:cNvSpPr txBox="1"/>
          <p:nvPr/>
        </p:nvSpPr>
        <p:spPr>
          <a:xfrm>
            <a:off x="990600" y="4185522"/>
            <a:ext cx="6475993" cy="384721"/>
          </a:xfrm>
          <a:prstGeom prst="rect">
            <a:avLst/>
          </a:prstGeom>
          <a:noFill/>
        </p:spPr>
        <p:txBody>
          <a:bodyPr wrap="square" rtlCol="0">
            <a:spAutoFit/>
          </a:bodyPr>
          <a:lstStyle/>
          <a:p>
            <a:r>
              <a:rPr lang="en-RU" sz="1900" dirty="0"/>
              <a:t>SPY Option Chains</a:t>
            </a:r>
          </a:p>
        </p:txBody>
      </p:sp>
      <p:sp>
        <p:nvSpPr>
          <p:cNvPr id="15" name="Title 1">
            <a:extLst>
              <a:ext uri="{FF2B5EF4-FFF2-40B4-BE49-F238E27FC236}">
                <a16:creationId xmlns:a16="http://schemas.microsoft.com/office/drawing/2014/main" id="{34597E42-EC4F-3F61-6157-F0D255163E76}"/>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a:t>
            </a:r>
            <a:endParaRPr lang="en-SK" dirty="0"/>
          </a:p>
        </p:txBody>
      </p:sp>
    </p:spTree>
    <p:extLst>
      <p:ext uri="{BB962C8B-B14F-4D97-AF65-F5344CB8AC3E}">
        <p14:creationId xmlns:p14="http://schemas.microsoft.com/office/powerpoint/2010/main" val="9080970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{D276CCEF-6B9D-9346-A3BE-12E011550FBB}tf16401378</Template>
  <TotalTime>22166</TotalTime>
  <Words>1467</Words>
  <Application>Microsoft Macintosh PowerPoint</Application>
  <PresentationFormat>Widescreen</PresentationFormat>
  <Paragraphs>145</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-apple-system</vt:lpstr>
      <vt:lpstr>Arial</vt:lpstr>
      <vt:lpstr>Calibri</vt:lpstr>
      <vt:lpstr>Calibri Light</vt:lpstr>
      <vt:lpstr>Spectral</vt:lpstr>
      <vt:lpstr>Office Theme</vt:lpstr>
      <vt:lpstr>Pricing Options Using  Neural Networks </vt:lpstr>
      <vt:lpstr>The Team</vt:lpstr>
      <vt:lpstr>Outcomes</vt:lpstr>
      <vt:lpstr>Model Selection</vt:lpstr>
      <vt:lpstr>Model Specifics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Volatility Pricing using Neural Network </dc:title>
  <dc:creator>Kovac, Patrik</dc:creator>
  <cp:lastModifiedBy>Kovac, Patrik</cp:lastModifiedBy>
  <cp:revision>32</cp:revision>
  <dcterms:created xsi:type="dcterms:W3CDTF">2022-11-14T18:54:06Z</dcterms:created>
  <dcterms:modified xsi:type="dcterms:W3CDTF">2022-12-18T13:14:39Z</dcterms:modified>
</cp:coreProperties>
</file>